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9" r:id="rId5"/>
    <p:sldId id="257" r:id="rId6"/>
    <p:sldId id="282" r:id="rId7"/>
    <p:sldId id="300" r:id="rId8"/>
    <p:sldId id="276" r:id="rId9"/>
    <p:sldId id="279" r:id="rId10"/>
    <p:sldId id="280" r:id="rId11"/>
    <p:sldId id="301" r:id="rId12"/>
    <p:sldId id="285" r:id="rId13"/>
    <p:sldId id="298" r:id="rId14"/>
    <p:sldId id="292" r:id="rId15"/>
    <p:sldId id="293" r:id="rId16"/>
    <p:sldId id="294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5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6774" autoAdjust="0"/>
  </p:normalViewPr>
  <p:slideViewPr>
    <p:cSldViewPr showGuides="1">
      <p:cViewPr varScale="1">
        <p:scale>
          <a:sx n="122" d="100"/>
          <a:sy n="122" d="100"/>
        </p:scale>
        <p:origin x="1548" y="108"/>
      </p:cViewPr>
      <p:guideLst>
        <p:guide orient="horz" pos="1935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Hello everyone. I'm Geliang from the MPTCP community. I'm one of the</a:t>
            </a:r>
            <a:endParaRPr lang="en-US" altLang="zh-CN" dirty="0"/>
          </a:p>
          <a:p>
            <a:r>
              <a:rPr lang="en-US" altLang="zh-CN" dirty="0"/>
              <a:t>core upstream developers of MPTCP since 2020. I live in Beijing, China</a:t>
            </a:r>
            <a:endParaRPr lang="en-US" altLang="zh-CN" dirty="0"/>
          </a:p>
          <a:p>
            <a:r>
              <a:rPr lang="en-US" altLang="zh-CN" dirty="0"/>
              <a:t>and work at a Chinese Linux distribution company, called Kylin Software.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Here I bring a proposal to add MPTCP support for NVMe. This approach</a:t>
            </a:r>
            <a:endParaRPr lang="en-US" altLang="zh-CN" dirty="0"/>
          </a:p>
          <a:p>
            <a:r>
              <a:rPr lang="en-US" altLang="zh-CN" dirty="0"/>
              <a:t>achieves a multi-fold /ˈm</a:t>
            </a:r>
            <a:r>
              <a:rPr lang="en-US" altLang="en-US" dirty="0"/>
              <a:t>ʌ</a:t>
            </a:r>
            <a:r>
              <a:rPr lang="en-US" altLang="zh-CN" dirty="0"/>
              <a:t>l.t</a:t>
            </a:r>
            <a:r>
              <a:rPr lang="en-US" altLang="en-US" dirty="0"/>
              <a:t>ɪ.</a:t>
            </a:r>
            <a:r>
              <a:rPr lang="en-US" altLang="zh-CN" dirty="0"/>
              <a:t>f</a:t>
            </a:r>
            <a:r>
              <a:rPr lang="en-US" altLang="en-US" dirty="0"/>
              <a:t>əʊ</a:t>
            </a:r>
            <a:r>
              <a:rPr lang="en-US" altLang="zh-CN" dirty="0"/>
              <a:t>ld/ performance improvement over using NVMe TCP in</a:t>
            </a:r>
            <a:endParaRPr lang="en-US" altLang="zh-CN" dirty="0"/>
          </a:p>
          <a:p>
            <a:r>
              <a:rPr lang="en-US" altLang="zh-CN" dirty="0"/>
              <a:t>multiple /ˈm</a:t>
            </a:r>
            <a:r>
              <a:rPr lang="en-US" altLang="en-US" dirty="0"/>
              <a:t>ʌ</a:t>
            </a:r>
            <a:r>
              <a:rPr lang="en-US" altLang="zh-CN" dirty="0"/>
              <a:t>l.t</a:t>
            </a:r>
            <a:r>
              <a:rPr lang="en-US" altLang="en-US" dirty="0"/>
              <a:t>ɪ.</a:t>
            </a:r>
            <a:r>
              <a:rPr lang="en-US" altLang="zh-CN" dirty="0"/>
              <a:t>pl/ network devices environments.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First of all, I want to say thanks to everyone who helped me during the</a:t>
            </a:r>
            <a:endParaRPr lang="en-US" altLang="zh-CN" dirty="0"/>
          </a:p>
          <a:p>
            <a:r>
              <a:rPr lang="en-US" altLang="zh-CN" dirty="0"/>
              <a:t>development of this feature.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And here is the agenda /</a:t>
            </a:r>
            <a:r>
              <a:rPr lang="en-US" altLang="en-US" dirty="0"/>
              <a:t>əˈ</a:t>
            </a:r>
            <a:r>
              <a:rPr lang="en-US" altLang="zh-CN" dirty="0"/>
              <a:t>d</a:t>
            </a:r>
            <a:r>
              <a:rPr lang="en-US" altLang="en-US" dirty="0"/>
              <a:t>ʒ</a:t>
            </a:r>
            <a:r>
              <a:rPr lang="en-US" altLang="zh-CN" dirty="0"/>
              <a:t>en.d</a:t>
            </a:r>
            <a:r>
              <a:rPr lang="en-US" altLang="en-US" dirty="0"/>
              <a:t>ə/. </a:t>
            </a:r>
            <a:r>
              <a:rPr lang="en-US" altLang="zh-CN" dirty="0"/>
              <a:t>First, I'll give a very brief introduction to MPTCP.</a:t>
            </a:r>
            <a:endParaRPr lang="en-US" altLang="zh-CN" dirty="0"/>
          </a:p>
          <a:p>
            <a:r>
              <a:rPr lang="en-US" altLang="zh-CN" dirty="0"/>
              <a:t>Then the motivations of NVMe MPTCP. Next, I'll show the patch list of all</a:t>
            </a:r>
            <a:endParaRPr lang="en-US" altLang="zh-CN" dirty="0"/>
          </a:p>
          <a:p>
            <a:r>
              <a:rPr lang="en-US" altLang="zh-CN" dirty="0"/>
              <a:t>the changes. Then I'll show a demo /ˈde.m</a:t>
            </a:r>
            <a:r>
              <a:rPr lang="en-US" altLang="en-US" dirty="0"/>
              <a:t>əʊ/ </a:t>
            </a:r>
            <a:r>
              <a:rPr lang="en-US" altLang="zh-CN" dirty="0"/>
              <a:t>of how to use NVMe MPTCP, and</a:t>
            </a:r>
            <a:endParaRPr lang="en-US" altLang="zh-CN" dirty="0"/>
          </a:p>
          <a:p>
            <a:r>
              <a:rPr lang="en-US" altLang="zh-CN" dirty="0"/>
              <a:t>what the benefit is. Next, how NVMe MPTCP is implemented. And the last is the</a:t>
            </a:r>
            <a:endParaRPr lang="en-US" altLang="zh-CN" dirty="0"/>
          </a:p>
          <a:p>
            <a:r>
              <a:rPr lang="en-US" altLang="zh-CN" dirty="0"/>
              <a:t>discussion (/d</a:t>
            </a:r>
            <a:r>
              <a:rPr lang="en-US" altLang="en-US" dirty="0"/>
              <a:t>ɪˈ</a:t>
            </a:r>
            <a:r>
              <a:rPr lang="en-US" altLang="zh-CN" dirty="0"/>
              <a:t>sk</a:t>
            </a:r>
            <a:r>
              <a:rPr lang="en-US" altLang="en-US" dirty="0"/>
              <a:t>ʌʃ.ə</a:t>
            </a:r>
            <a:r>
              <a:rPr lang="en-US" altLang="zh-CN" dirty="0"/>
              <a:t>n/).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Here I will give a very brief introduction to MPTCP.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MPTCP, or Multipath TCP, is an extension to the standard TCP and is</a:t>
            </a:r>
            <a:endParaRPr lang="en-US" altLang="zh-CN" dirty="0"/>
          </a:p>
          <a:p>
            <a:r>
              <a:rPr lang="en-US" altLang="zh-CN" dirty="0"/>
              <a:t>defined in RFC 8684. MPTCP is implemented via TCP options. A dedicated</a:t>
            </a:r>
            <a:endParaRPr lang="en-US" altLang="zh-CN" dirty="0"/>
          </a:p>
          <a:p>
            <a:r>
              <a:rPr lang="en-US" altLang="zh-CN" dirty="0"/>
              <a:t>TCP option is defined for MPTCP, and its kind number is 30. It allows a</a:t>
            </a:r>
            <a:endParaRPr lang="en-US" altLang="zh-CN" dirty="0"/>
          </a:p>
          <a:p>
            <a:r>
              <a:rPr lang="en-US" altLang="zh-CN" dirty="0"/>
              <a:t>device to use multiple network interfaces at the same time to send and</a:t>
            </a:r>
            <a:endParaRPr lang="en-US" altLang="zh-CN" dirty="0"/>
          </a:p>
          <a:p>
            <a:r>
              <a:rPr lang="en-US" altLang="zh-CN" dirty="0"/>
              <a:t>receive TCP packets /ˈp</a:t>
            </a:r>
            <a:r>
              <a:rPr lang="en-US" altLang="en-US" dirty="0"/>
              <a:t>æ</a:t>
            </a:r>
            <a:r>
              <a:rPr lang="en-US" altLang="zh-CN" dirty="0"/>
              <a:t>k.</a:t>
            </a:r>
            <a:r>
              <a:rPr lang="en-US" altLang="en-US" dirty="0"/>
              <a:t>ɪ</a:t>
            </a:r>
            <a:r>
              <a:rPr lang="en-US" altLang="zh-CN" dirty="0"/>
              <a:t>t/ over a single connection.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MPTCP can be used for combining the bandwidth of multiple interfaces or</a:t>
            </a:r>
            <a:endParaRPr lang="en-US" altLang="zh-CN" dirty="0"/>
          </a:p>
          <a:p>
            <a:r>
              <a:rPr lang="en-US" altLang="zh-CN" dirty="0"/>
              <a:t>choosing the best path with the lowest latency. It also supports</a:t>
            </a:r>
            <a:endParaRPr lang="en-US" altLang="zh-CN" dirty="0"/>
          </a:p>
          <a:p>
            <a:r>
              <a:rPr lang="en-US" altLang="zh-CN" dirty="0"/>
              <a:t>fail-over /ˈfe</a:t>
            </a:r>
            <a:r>
              <a:rPr lang="en-US" altLang="en-US" dirty="0"/>
              <a:t>ɪ</a:t>
            </a:r>
            <a:r>
              <a:rPr lang="en-US" altLang="zh-CN" dirty="0"/>
              <a:t>l/: if one path goes down, traffic is smoothly switched to another</a:t>
            </a:r>
            <a:endParaRPr lang="en-US" altLang="zh-CN" dirty="0"/>
          </a:p>
          <a:p>
            <a:r>
              <a:rPr lang="en-US" altLang="zh-CN" dirty="0"/>
              <a:t>path without interruption.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It was introduced in Linux kernel 5.6. After more than six years of</a:t>
            </a:r>
            <a:endParaRPr lang="en-US" altLang="zh-CN" dirty="0"/>
          </a:p>
          <a:p>
            <a:r>
              <a:rPr lang="en-US" altLang="zh-CN" dirty="0"/>
              <a:t>development, it has become mature /m</a:t>
            </a:r>
            <a:r>
              <a:rPr lang="en-US" altLang="en-US" dirty="0"/>
              <a:t>əˈ</a:t>
            </a:r>
            <a:r>
              <a:rPr lang="en-US" altLang="zh-CN" dirty="0"/>
              <a:t>t</a:t>
            </a:r>
            <a:r>
              <a:rPr lang="en-US" altLang="en-US" dirty="0"/>
              <a:t>ʃʊə/ </a:t>
            </a:r>
            <a:r>
              <a:rPr lang="en-US" altLang="zh-CN" dirty="0"/>
              <a:t>and stable, and more and more</a:t>
            </a:r>
            <a:endParaRPr lang="en-US" altLang="zh-CN" dirty="0"/>
          </a:p>
          <a:p>
            <a:r>
              <a:rPr lang="en-US" altLang="zh-CN" dirty="0"/>
              <a:t>network applications already support MPTCP.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How to use it?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First, we need to do address /</a:t>
            </a:r>
            <a:r>
              <a:rPr lang="en-US" altLang="en-US" dirty="0"/>
              <a:t>əˈ</a:t>
            </a:r>
            <a:r>
              <a:rPr lang="en-US" altLang="zh-CN" dirty="0"/>
              <a:t>dres/ configuration, which is handled by</a:t>
            </a:r>
            <a:endParaRPr lang="en-US" altLang="zh-CN" dirty="0"/>
          </a:p>
          <a:p>
            <a:r>
              <a:rPr lang="en-US" altLang="zh-CN" dirty="0"/>
              <a:t>the path manager. We can use 'ip mptcp' commands to do it manually,</a:t>
            </a:r>
            <a:endParaRPr lang="en-US" altLang="zh-CN" dirty="0"/>
          </a:p>
          <a:p>
            <a:r>
              <a:rPr lang="en-US" altLang="zh-CN" dirty="0"/>
              <a:t>or we can use the MPTCP daemon (ˈdi</a:t>
            </a:r>
            <a:r>
              <a:rPr lang="en-US" altLang="en-US" dirty="0"/>
              <a:t>ː.</a:t>
            </a:r>
            <a:r>
              <a:rPr lang="en-US" altLang="zh-CN" dirty="0"/>
              <a:t>m</a:t>
            </a:r>
            <a:r>
              <a:rPr lang="en-US" altLang="en-US" dirty="0"/>
              <a:t>ə</a:t>
            </a:r>
            <a:r>
              <a:rPr lang="en-US" altLang="zh-CN" dirty="0"/>
              <a:t>n) (mptcpd) to do it automatically.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Then, we need to create MPTCP sockets both on the server side and client side.</a:t>
            </a:r>
            <a:endParaRPr lang="en-US" altLang="zh-CN" dirty="0"/>
          </a:p>
          <a:p>
            <a:r>
              <a:rPr lang="en-US" altLang="zh-CN" dirty="0"/>
              <a:t>If only one side uses MPTCP, the connection will fall back /f</a:t>
            </a:r>
            <a:r>
              <a:rPr lang="en-US" altLang="en-US" dirty="0"/>
              <a:t>ɔ</a:t>
            </a:r>
            <a:r>
              <a:rPr lang="en-US" altLang="en-US" dirty="0"/>
              <a:t>ː</a:t>
            </a:r>
            <a:r>
              <a:rPr lang="en-US" altLang="zh-CN" dirty="0"/>
              <a:t>l b</a:t>
            </a:r>
            <a:r>
              <a:rPr lang="en-US" altLang="en-US" dirty="0"/>
              <a:t>æ</a:t>
            </a:r>
            <a:r>
              <a:rPr lang="en-US" altLang="zh-CN" dirty="0"/>
              <a:t>k/ to TCP.</a:t>
            </a:r>
            <a:endParaRPr lang="en-US" altLang="zh-CN" dirty="0"/>
          </a:p>
          <a:p>
            <a:r>
              <a:rPr lang="en-US" altLang="zh-CN" dirty="0"/>
              <a:t>We need to explicitly pass the protocol number IPPROTO_MPTCP (that is 262)</a:t>
            </a:r>
            <a:endParaRPr lang="en-US" altLang="zh-CN" dirty="0"/>
          </a:p>
          <a:p>
            <a:r>
              <a:rPr lang="en-US" altLang="zh-CN" dirty="0"/>
              <a:t>as the third parameter of socket() syscall to create an MPTCP socket.</a:t>
            </a:r>
            <a:endParaRPr lang="en-US" altLang="zh-CN" dirty="0"/>
          </a:p>
          <a:p>
            <a:r>
              <a:rPr lang="en-US" altLang="zh-CN" dirty="0"/>
              <a:t>Or, without changing any code, we can use the BPF tool to force a TCP</a:t>
            </a:r>
            <a:endParaRPr lang="en-US" altLang="zh-CN" dirty="0"/>
          </a:p>
          <a:p>
            <a:r>
              <a:rPr lang="en-US" altLang="zh-CN" dirty="0"/>
              <a:t>application to use MPTCP.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After the MPTCP sockets are created, we can use them just like TCP sockets,</a:t>
            </a:r>
            <a:endParaRPr lang="en-US" altLang="zh-CN" dirty="0"/>
          </a:p>
          <a:p>
            <a:r>
              <a:rPr lang="en-US" altLang="zh-CN" dirty="0"/>
              <a:t>with no difference. Inside the MPTCP protocol stack /st</a:t>
            </a:r>
            <a:r>
              <a:rPr lang="en-US" altLang="en-US" dirty="0"/>
              <a:t>æ</a:t>
            </a:r>
            <a:r>
              <a:rPr lang="en-US" altLang="zh-CN" dirty="0"/>
              <a:t>k/, multiple TCP</a:t>
            </a:r>
            <a:endParaRPr lang="en-US" altLang="zh-CN" dirty="0"/>
          </a:p>
          <a:p>
            <a:r>
              <a:rPr lang="en-US" altLang="zh-CN" dirty="0"/>
              <a:t>sockets are created in kernel space to send and receive data, based on the</a:t>
            </a:r>
            <a:endParaRPr lang="en-US" altLang="zh-CN" dirty="0"/>
          </a:p>
          <a:p>
            <a:r>
              <a:rPr lang="en-US" altLang="zh-CN" dirty="0"/>
              <a:t>address configuration; we call each TCP socket a subflow.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For more details, please visit the project website: mptcp.dev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Why do we need NVMe MPTCP?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First, all current use cases for MPTCP are in userspace. NVMe TCP runs</a:t>
            </a:r>
            <a:endParaRPr lang="en-US" altLang="zh-CN" dirty="0"/>
          </a:p>
          <a:p>
            <a:r>
              <a:rPr lang="en-US" altLang="zh-CN" dirty="0"/>
              <a:t>in kernel-space. So adding MPTCP support to NVMe provides the first</a:t>
            </a:r>
            <a:endParaRPr lang="en-US" altLang="zh-CN" dirty="0"/>
          </a:p>
          <a:p>
            <a:r>
              <a:rPr lang="en-US" altLang="zh-CN" dirty="0"/>
              <a:t>kernel‑space use case for MPTCP. This helps us verify the functionality</a:t>
            </a:r>
            <a:endParaRPr lang="en-US" altLang="zh-CN" dirty="0"/>
          </a:p>
          <a:p>
            <a:r>
              <a:rPr lang="en-US" altLang="zh-CN" dirty="0"/>
              <a:t>of MPTCP from kernel space and add missing features - like read_sock</a:t>
            </a:r>
            <a:endParaRPr lang="en-US" altLang="zh-CN" dirty="0"/>
          </a:p>
          <a:p>
            <a:r>
              <a:rPr lang="en-US" altLang="zh-CN" dirty="0"/>
              <a:t>interface and TLS encryption - which were not implemented in MPTCP before.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Second, in multiple network device environments, NVMe TCP can</a:t>
            </a:r>
            <a:endParaRPr lang="en-US" altLang="zh-CN" dirty="0"/>
          </a:p>
          <a:p>
            <a:r>
              <a:rPr lang="en-US" altLang="zh-CN" dirty="0"/>
              <a:t>only use a single network device, so the bandwidth is limited by</a:t>
            </a:r>
            <a:endParaRPr lang="en-US" altLang="zh-CN" dirty="0"/>
          </a:p>
          <a:p>
            <a:r>
              <a:rPr lang="en-US" altLang="zh-CN" dirty="0"/>
              <a:t>the speed of that single device. With MPTCP, we can aggregate</a:t>
            </a:r>
            <a:endParaRPr lang="en-US" altLang="zh-CN" dirty="0"/>
          </a:p>
          <a:p>
            <a:r>
              <a:rPr lang="en-US" altLang="zh-CN" dirty="0"/>
              <a:t>the bandwidth of all available devices on both the target side and</a:t>
            </a:r>
            <a:endParaRPr lang="en-US" altLang="zh-CN" dirty="0"/>
          </a:p>
          <a:p>
            <a:r>
              <a:rPr lang="en-US" altLang="zh-CN" dirty="0"/>
              <a:t>the host side, achieving a multi‑fold performance improvement -</a:t>
            </a:r>
            <a:endParaRPr lang="en-US" altLang="zh-CN" dirty="0"/>
          </a:p>
          <a:p>
            <a:r>
              <a:rPr lang="en-US" altLang="zh-CN" dirty="0"/>
              <a:t>as we will see in the demo.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Third, MPTCP allows a fail-over. If a path fails, traffic switches</a:t>
            </a:r>
            <a:endParaRPr lang="en-US" altLang="zh-CN" dirty="0"/>
          </a:p>
          <a:p>
            <a:r>
              <a:rPr lang="en-US" altLang="zh-CN" dirty="0"/>
              <a:t>to another path without breaking the NVMe connection. So we get better</a:t>
            </a:r>
            <a:endParaRPr lang="en-US" altLang="zh-CN" dirty="0"/>
          </a:p>
          <a:p>
            <a:r>
              <a:rPr lang="en-US" altLang="zh-CN" dirty="0"/>
              <a:t>reliability without adding complexity to NVMe layer.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These are the main motivations behind this work.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I started working on this feature about a year ago. Currently, the</a:t>
            </a:r>
            <a:endParaRPr lang="en-US" altLang="zh-CN" dirty="0"/>
          </a:p>
          <a:p>
            <a:r>
              <a:rPr lang="en-US" altLang="zh-CN" dirty="0"/>
              <a:t>implementation and testing are mostly done. Some code is upstreamed,</a:t>
            </a:r>
            <a:endParaRPr lang="en-US" altLang="zh-CN" dirty="0"/>
          </a:p>
          <a:p>
            <a:r>
              <a:rPr lang="en-US" altLang="zh-CN" dirty="0"/>
              <a:t>while most remains under review on MPTCP side, in RFC stage.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modifications in the NVMe subsystem are minimal. Most of the code</a:t>
            </a:r>
            <a:endParaRPr lang="en-US" altLang="zh-CN" dirty="0"/>
          </a:p>
          <a:p>
            <a:r>
              <a:rPr lang="en-US" altLang="zh-CN" dirty="0"/>
              <a:t>changes are on the MPTCP side.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Here are the patchsets: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 mptcp: implement .read_sock (/ri</a:t>
            </a:r>
            <a:r>
              <a:rPr lang="en-US" altLang="en-US" dirty="0"/>
              <a:t>ː</a:t>
            </a:r>
            <a:r>
              <a:rPr lang="en-US" altLang="zh-CN" dirty="0"/>
              <a:t>d/ underscore)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NVMe TCP uses read_sock interface for receiving data. However, it was</a:t>
            </a:r>
            <a:endParaRPr lang="en-US" altLang="zh-CN" dirty="0"/>
          </a:p>
          <a:p>
            <a:r>
              <a:rPr lang="en-US" altLang="zh-CN" dirty="0"/>
              <a:t>not implemented in MPTCP before /b</a:t>
            </a:r>
            <a:r>
              <a:rPr lang="en-US" altLang="en-US" dirty="0"/>
              <a:t>ɪˈ</a:t>
            </a:r>
            <a:r>
              <a:rPr lang="en-US" altLang="zh-CN" dirty="0"/>
              <a:t>f</a:t>
            </a:r>
            <a:r>
              <a:rPr lang="en-US" altLang="en-US" dirty="0"/>
              <a:t>ɔ</a:t>
            </a:r>
            <a:r>
              <a:rPr lang="en-US" altLang="en-US" dirty="0"/>
              <a:t>ː(</a:t>
            </a:r>
            <a:r>
              <a:rPr lang="en-US" altLang="zh-CN" dirty="0"/>
              <a:t>r)/, since all current use cases for MPTCP</a:t>
            </a:r>
            <a:endParaRPr lang="en-US" altLang="zh-CN" dirty="0"/>
          </a:p>
          <a:p>
            <a:r>
              <a:rPr lang="en-US" altLang="zh-CN" dirty="0"/>
              <a:t>are in userspace, where read_sock is not used. So my first task was to</a:t>
            </a:r>
            <a:endParaRPr lang="en-US" altLang="zh-CN" dirty="0"/>
          </a:p>
          <a:p>
            <a:r>
              <a:rPr lang="en-US" altLang="zh-CN" dirty="0"/>
              <a:t>implement this interface for MPTCP.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After several rounds of iteration, this set was merged into Linux kernel</a:t>
            </a:r>
            <a:endParaRPr lang="en-US" altLang="zh-CN" dirty="0"/>
          </a:p>
          <a:p>
            <a:r>
              <a:rPr lang="en-US" altLang="zh-CN" dirty="0"/>
              <a:t>in February this year. With this interface, we can add MPTCP support</a:t>
            </a:r>
            <a:endParaRPr lang="en-US" altLang="zh-CN" dirty="0"/>
          </a:p>
          <a:p>
            <a:r>
              <a:rPr lang="en-US" altLang="zh-CN" dirty="0"/>
              <a:t>/s</a:t>
            </a:r>
            <a:r>
              <a:rPr lang="en-US" altLang="en-US" dirty="0"/>
              <a:t>əˈ</a:t>
            </a:r>
            <a:r>
              <a:rPr lang="en-US" altLang="zh-CN" dirty="0"/>
              <a:t>p</a:t>
            </a:r>
            <a:r>
              <a:rPr lang="en-US" altLang="en-US" dirty="0"/>
              <a:t>ɔ</a:t>
            </a:r>
            <a:r>
              <a:rPr lang="en-US" altLang="en-US" dirty="0"/>
              <a:t>ː</a:t>
            </a:r>
            <a:r>
              <a:rPr lang="en-US" altLang="zh-CN" dirty="0"/>
              <a:t>t/ for NVMe now.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NVMe over MPTCP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 set adds basic MPTCP support for NVMe, but without TLS encryption /</a:t>
            </a:r>
            <a:r>
              <a:rPr lang="en-US" altLang="en-US" dirty="0"/>
              <a:t>ɪ</a:t>
            </a:r>
            <a:r>
              <a:rPr lang="en-US" altLang="zh-CN" dirty="0"/>
              <a:t>nˈkr</a:t>
            </a:r>
            <a:r>
              <a:rPr lang="en-US" altLang="en-US" dirty="0"/>
              <a:t>ɪ</a:t>
            </a:r>
            <a:r>
              <a:rPr lang="en-US" altLang="zh-CN" dirty="0"/>
              <a:t>p.</a:t>
            </a:r>
            <a:r>
              <a:rPr lang="en-US" altLang="en-US" dirty="0"/>
              <a:t>ʃə</a:t>
            </a:r>
            <a:r>
              <a:rPr lang="en-US" altLang="zh-CN" dirty="0"/>
              <a:t>n/.</a:t>
            </a:r>
            <a:endParaRPr lang="en-US" altLang="zh-CN" dirty="0"/>
          </a:p>
          <a:p>
            <a:r>
              <a:rPr lang="en-US" altLang="zh-CN" dirty="0"/>
              <a:t>It defines a new transport /ˈtr</a:t>
            </a:r>
            <a:r>
              <a:rPr lang="en-US" altLang="en-US" dirty="0"/>
              <a:t>æ</a:t>
            </a:r>
            <a:r>
              <a:rPr lang="en-US" altLang="zh-CN" dirty="0"/>
              <a:t>n.sp</a:t>
            </a:r>
            <a:r>
              <a:rPr lang="en-US" altLang="en-US" dirty="0"/>
              <a:t>ɔ</a:t>
            </a:r>
            <a:r>
              <a:rPr lang="en-US" altLang="en-US" dirty="0"/>
              <a:t>ː</a:t>
            </a:r>
            <a:r>
              <a:rPr lang="en-US" altLang="zh-CN" dirty="0"/>
              <a:t>t/ type for MPTCP, which creates /kriˈe</a:t>
            </a:r>
            <a:r>
              <a:rPr lang="en-US" altLang="en-US" dirty="0"/>
              <a:t>ɪ</a:t>
            </a:r>
            <a:r>
              <a:rPr lang="en-US" altLang="zh-CN" dirty="0"/>
              <a:t>t/ MPTCP sockets</a:t>
            </a:r>
            <a:endParaRPr lang="en-US" altLang="zh-CN" dirty="0"/>
          </a:p>
          <a:p>
            <a:r>
              <a:rPr lang="en-US" altLang="zh-CN" dirty="0"/>
              <a:t>between the target (ˈt</a:t>
            </a:r>
            <a:r>
              <a:rPr lang="en-US" altLang="en-US" dirty="0"/>
              <a:t>ɑːɡ</a:t>
            </a:r>
            <a:r>
              <a:rPr lang="en-US" altLang="en-US" dirty="0"/>
              <a:t>ɪ</a:t>
            </a:r>
            <a:r>
              <a:rPr lang="en-US" altLang="zh-CN" dirty="0"/>
              <a:t>t) and the host instead of TCP sockets.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 set is currently under review on MPTCP side, and today's discussion</a:t>
            </a:r>
            <a:endParaRPr lang="en-US" altLang="zh-CN" dirty="0"/>
          </a:p>
          <a:p>
            <a:r>
              <a:rPr lang="en-US" altLang="zh-CN" dirty="0"/>
              <a:t>is mainly about this set.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 MPTCP KTLS support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MPTCP did not support TLS before. They conflict with each other to</a:t>
            </a:r>
            <a:endParaRPr lang="en-US" altLang="zh-CN" dirty="0"/>
          </a:p>
          <a:p>
            <a:r>
              <a:rPr lang="en-US" altLang="zh-CN" dirty="0"/>
              <a:t>some extent. Because both MPTCP and TLS use ULP, Upper Layer Protocol.</a:t>
            </a:r>
            <a:endParaRPr lang="en-US" altLang="zh-CN" dirty="0"/>
          </a:p>
          <a:p>
            <a:r>
              <a:rPr lang="en-US" altLang="zh-CN" dirty="0"/>
              <a:t>ULP settings, including TLS settings, are disabled in MPTCP. If you set</a:t>
            </a:r>
            <a:endParaRPr lang="en-US" altLang="zh-CN" dirty="0"/>
          </a:p>
          <a:p>
            <a:r>
              <a:rPr lang="en-US" altLang="zh-CN" dirty="0"/>
              <a:t>TLS for an MPTCP socket, you will get an error code of 'NOT SUPPORTED'.</a:t>
            </a:r>
            <a:endParaRPr lang="en-US" altLang="zh-CN" dirty="0"/>
          </a:p>
          <a:p>
            <a:r>
              <a:rPr lang="en-US" altLang="zh-CN" dirty="0"/>
              <a:t>But now NVMe needs to use TLS for encryption, it's time to enable it.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 finally found a solution to make MPTCP and TLS compatible, and</a:t>
            </a:r>
            <a:endParaRPr lang="en-US" altLang="zh-CN" dirty="0"/>
          </a:p>
          <a:p>
            <a:r>
              <a:rPr lang="en-US" altLang="zh-CN" dirty="0"/>
              <a:t>implemented MPTCP support on the TLS side and enabled TLS settings on</a:t>
            </a:r>
            <a:endParaRPr lang="en-US" altLang="zh-CN" dirty="0"/>
          </a:p>
          <a:p>
            <a:r>
              <a:rPr lang="en-US" altLang="zh-CN" dirty="0"/>
              <a:t>the MPTCP side. Need to say, only software TLS encryption is supported</a:t>
            </a:r>
            <a:endParaRPr lang="en-US" altLang="zh-CN" dirty="0"/>
          </a:p>
          <a:p>
            <a:r>
              <a:rPr lang="en-US" altLang="zh-CN" dirty="0"/>
              <a:t>for MPTCP right now; hardware TLS has not yet been developed.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 set is currently under review on MPTCP side, and I believe it will</a:t>
            </a:r>
            <a:endParaRPr lang="en-US" altLang="zh-CN" dirty="0"/>
          </a:p>
          <a:p>
            <a:r>
              <a:rPr lang="en-US" altLang="zh-CN" dirty="0"/>
              <a:t>be upstreamed this year.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 Enable KTLS for NVMe MPTCP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Once TLS is supported /s</a:t>
            </a:r>
            <a:r>
              <a:rPr lang="en-US" altLang="en-US" dirty="0"/>
              <a:t>əˈ</a:t>
            </a:r>
            <a:r>
              <a:rPr lang="en-US" altLang="zh-CN" dirty="0"/>
              <a:t>p</a:t>
            </a:r>
            <a:r>
              <a:rPr lang="en-US" altLang="en-US" dirty="0"/>
              <a:t>ɔ</a:t>
            </a:r>
            <a:r>
              <a:rPr lang="en-US" altLang="en-US" dirty="0"/>
              <a:t>ː.</a:t>
            </a:r>
            <a:r>
              <a:rPr lang="en-US" altLang="zh-CN" dirty="0"/>
              <a:t>t</a:t>
            </a:r>
            <a:r>
              <a:rPr lang="en-US" altLang="en-US" dirty="0"/>
              <a:t>ɪ</a:t>
            </a:r>
            <a:r>
              <a:rPr lang="en-US" altLang="zh-CN" dirty="0"/>
              <a:t>d/ for MPTCP, using TLS for NVMe MPTCP becomes</a:t>
            </a:r>
            <a:endParaRPr lang="en-US" altLang="zh-CN" dirty="0"/>
          </a:p>
          <a:p>
            <a:r>
              <a:rPr lang="en-US" altLang="zh-CN" dirty="0"/>
              <a:t>straightforward /ˌstre</a:t>
            </a:r>
            <a:r>
              <a:rPr lang="en-US" altLang="en-US" dirty="0"/>
              <a:t>ɪ</a:t>
            </a:r>
            <a:r>
              <a:rPr lang="en-US" altLang="zh-CN" dirty="0"/>
              <a:t>tˈf</a:t>
            </a:r>
            <a:r>
              <a:rPr lang="en-US" altLang="en-US" dirty="0"/>
              <a:t>ɔ</a:t>
            </a:r>
            <a:r>
              <a:rPr lang="en-US" altLang="en-US" dirty="0"/>
              <a:t>ː.</a:t>
            </a:r>
            <a:r>
              <a:rPr lang="en-US" altLang="zh-CN" dirty="0"/>
              <a:t>w</a:t>
            </a:r>
            <a:r>
              <a:rPr lang="en-US" altLang="en-US" dirty="0"/>
              <a:t>ə</a:t>
            </a:r>
            <a:r>
              <a:rPr lang="en-US" altLang="zh-CN" dirty="0"/>
              <a:t>d/. Only need to enable TLS setting in configfs</a:t>
            </a:r>
            <a:endParaRPr lang="en-US" altLang="zh-CN" dirty="0"/>
          </a:p>
          <a:p>
            <a:r>
              <a:rPr lang="en-US" altLang="zh-CN" dirty="0"/>
              <a:t>for the MPTCP transport type.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5 The next is about user space changes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User space libraries (ˈla</a:t>
            </a:r>
            <a:r>
              <a:rPr lang="en-US" altLang="en-US" dirty="0"/>
              <a:t>ɪ.</a:t>
            </a:r>
            <a:r>
              <a:rPr lang="en-US" altLang="zh-CN" dirty="0"/>
              <a:t>br</a:t>
            </a:r>
            <a:r>
              <a:rPr lang="en-US" altLang="en-US" dirty="0"/>
              <a:t>ə</a:t>
            </a:r>
            <a:r>
              <a:rPr lang="en-US" altLang="zh-CN" dirty="0"/>
              <a:t>r.i) and tools, including libnvme (l</a:t>
            </a:r>
            <a:r>
              <a:rPr lang="en-US" altLang="en-US" dirty="0"/>
              <a:t>ɪ</a:t>
            </a:r>
            <a:r>
              <a:rPr lang="en-US" altLang="zh-CN" dirty="0"/>
              <a:t>b),</a:t>
            </a:r>
            <a:endParaRPr lang="en-US" altLang="zh-CN" dirty="0"/>
          </a:p>
          <a:p>
            <a:r>
              <a:rPr lang="en-US" altLang="zh-CN" dirty="0"/>
              <a:t>nvme-cli, and ktls-utils, also need to add MPTCP support.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6 The last is fixes for MPTCP corner cases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During the development of NVMe MPTCP, some MPTCP corner‑cases were</a:t>
            </a:r>
            <a:endParaRPr lang="en-US" altLang="zh-CN" dirty="0"/>
          </a:p>
          <a:p>
            <a:r>
              <a:rPr lang="en-US" altLang="zh-CN" dirty="0"/>
              <a:t>triggered, and these bugs needed to be fixed.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That's all the patch list.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Now let's look at a demo.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 demo is the selftest script for NVMe MPTCP, it is the last patch</a:t>
            </a:r>
            <a:endParaRPr lang="en-US" altLang="zh-CN" dirty="0"/>
          </a:p>
          <a:p>
            <a:r>
              <a:rPr lang="en-US" altLang="zh-CN" dirty="0"/>
              <a:t>in the 'NVMe over MPTCP' patch set. This script takes three arguments.</a:t>
            </a:r>
            <a:endParaRPr lang="en-US" altLang="zh-CN" dirty="0"/>
          </a:p>
          <a:p>
            <a:r>
              <a:rPr lang="en-US" altLang="zh-CN" dirty="0"/>
              <a:t>The first is the transport type, which can be set to 'tcp' or 'mptcp'.</a:t>
            </a:r>
            <a:endParaRPr lang="en-US" altLang="zh-CN" dirty="0"/>
          </a:p>
          <a:p>
            <a:r>
              <a:rPr lang="en-US" altLang="zh-CN" dirty="0"/>
              <a:t>The second is the I/O policy, which can be set to 'numa',</a:t>
            </a:r>
            <a:endParaRPr lang="en-US" altLang="zh-CN" dirty="0"/>
          </a:p>
          <a:p>
            <a:r>
              <a:rPr lang="en-US" altLang="zh-CN" dirty="0"/>
              <a:t>'round-robin'(ˈr</a:t>
            </a:r>
            <a:r>
              <a:rPr lang="en-US" altLang="en-US" dirty="0"/>
              <a:t>ɒ</a:t>
            </a:r>
            <a:r>
              <a:rPr lang="en-US" altLang="zh-CN" dirty="0"/>
              <a:t>b.</a:t>
            </a:r>
            <a:r>
              <a:rPr lang="en-US" altLang="en-US" dirty="0"/>
              <a:t>ɪ</a:t>
            </a:r>
            <a:r>
              <a:rPr lang="en-US" altLang="zh-CN" dirty="0"/>
              <a:t>n), or 'queue-depth'. The third is 'tls', which</a:t>
            </a:r>
            <a:endParaRPr lang="en-US" altLang="zh-CN" dirty="0"/>
          </a:p>
          <a:p>
            <a:r>
              <a:rPr lang="en-US" altLang="zh-CN" dirty="0"/>
              <a:t>controls whether TLS encryption is used.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 test creates two network namespaces. One is used to run the NVMe</a:t>
            </a:r>
            <a:endParaRPr lang="en-US" altLang="zh-CN" dirty="0"/>
          </a:p>
          <a:p>
            <a:r>
              <a:rPr lang="en-US" altLang="zh-CN" dirty="0"/>
              <a:t>target, that is the server side, and the other is used to run the NVMe</a:t>
            </a:r>
            <a:endParaRPr lang="en-US" altLang="zh-CN" dirty="0"/>
          </a:p>
          <a:p>
            <a:r>
              <a:rPr lang="en-US" altLang="zh-CN" dirty="0"/>
              <a:t>host, that is the client side. Each namespace has four virtual /ˈv</a:t>
            </a:r>
            <a:r>
              <a:rPr lang="en-US" altLang="en-US" dirty="0"/>
              <a:t>ɜ</a:t>
            </a:r>
            <a:r>
              <a:rPr lang="en-US" altLang="en-US" dirty="0"/>
              <a:t>ː.</a:t>
            </a:r>
            <a:r>
              <a:rPr lang="en-US" altLang="zh-CN" dirty="0"/>
              <a:t>t</a:t>
            </a:r>
            <a:r>
              <a:rPr lang="en-US" altLang="en-US" dirty="0"/>
              <a:t>ʃ</a:t>
            </a:r>
            <a:r>
              <a:rPr lang="en-US" altLang="zh-CN" dirty="0"/>
              <a:t>u.</a:t>
            </a:r>
            <a:r>
              <a:rPr lang="en-US" altLang="en-US" dirty="0"/>
              <a:t>ə</a:t>
            </a:r>
            <a:r>
              <a:rPr lang="en-US" altLang="zh-CN" dirty="0"/>
              <a:t>l/ network</a:t>
            </a:r>
            <a:endParaRPr lang="en-US" altLang="zh-CN" dirty="0"/>
          </a:p>
          <a:p>
            <a:r>
              <a:rPr lang="en-US" altLang="zh-CN" dirty="0"/>
              <a:t>devices, and each network device is limited to a speed of 100 megabytes /ˈme</a:t>
            </a:r>
            <a:r>
              <a:rPr lang="en-US" altLang="en-US" dirty="0"/>
              <a:t>ɡ.</a:t>
            </a:r>
            <a:r>
              <a:rPr lang="en-US" altLang="en-US" dirty="0"/>
              <a:t>ə.</a:t>
            </a:r>
            <a:r>
              <a:rPr lang="en-US" altLang="zh-CN" dirty="0"/>
              <a:t>ba</a:t>
            </a:r>
            <a:r>
              <a:rPr lang="en-US" altLang="en-US" dirty="0"/>
              <a:t>ɪ</a:t>
            </a:r>
            <a:r>
              <a:rPr lang="en-US" altLang="zh-CN" dirty="0"/>
              <a:t>ts/</a:t>
            </a:r>
            <a:endParaRPr lang="en-US" altLang="zh-CN" dirty="0"/>
          </a:p>
          <a:p>
            <a:r>
              <a:rPr lang="en-US" altLang="zh-CN" dirty="0"/>
              <a:t>per second.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When we run NVMe TCP in this environment, the 'fio' benchmark shows the</a:t>
            </a:r>
            <a:endParaRPr lang="en-US" altLang="zh-CN" dirty="0"/>
          </a:p>
          <a:p>
            <a:r>
              <a:rPr lang="en-US" altLang="zh-CN" dirty="0"/>
              <a:t>speed is about 100 megabytes per second, as we expected. That means</a:t>
            </a:r>
            <a:endParaRPr lang="en-US" altLang="zh-CN" dirty="0"/>
          </a:p>
          <a:p>
            <a:r>
              <a:rPr lang="en-US" altLang="zh-CN" dirty="0"/>
              <a:t>only the first network device on both sides is used for NVMe TCP</a:t>
            </a:r>
            <a:endParaRPr lang="en-US" altLang="zh-CN" dirty="0"/>
          </a:p>
          <a:p>
            <a:r>
              <a:rPr lang="en-US" altLang="zh-CN" dirty="0"/>
              <a:t>communication, and the other three network devices are unused and not</a:t>
            </a:r>
            <a:endParaRPr lang="en-US" altLang="zh-CN" dirty="0"/>
          </a:p>
          <a:p>
            <a:r>
              <a:rPr lang="en-US" altLang="zh-CN" dirty="0"/>
              <a:t>involved.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When we use NVMe MPTCP in the next slide, this is not the case at all.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Before running NVMe MPTCP, we need to do some configuration to</a:t>
            </a:r>
            <a:endParaRPr lang="en-US" altLang="zh-CN" dirty="0"/>
          </a:p>
          <a:p>
            <a:r>
              <a:rPr lang="en-US" altLang="zh-CN" dirty="0"/>
              <a:t>tell MPTCP which IP addresses are available.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We do that with the 'ip mptcp endpoint add' commands. On both sides, we</a:t>
            </a:r>
            <a:endParaRPr lang="en-US" altLang="zh-CN" dirty="0"/>
          </a:p>
          <a:p>
            <a:r>
              <a:rPr lang="en-US" altLang="zh-CN" dirty="0"/>
              <a:t>add the IP addresses of the second, third, and fourth network devices</a:t>
            </a:r>
            <a:endParaRPr lang="en-US" altLang="zh-CN" dirty="0"/>
          </a:p>
          <a:p>
            <a:r>
              <a:rPr lang="en-US" altLang="zh-CN" dirty="0"/>
              <a:t>into the address list of MPTCP path manager. The difference is, on the</a:t>
            </a:r>
            <a:endParaRPr lang="en-US" altLang="zh-CN" dirty="0"/>
          </a:p>
          <a:p>
            <a:r>
              <a:rPr lang="en-US" altLang="zh-CN" dirty="0"/>
              <a:t>target side, we use the 'signal' flags, while on the host side, we use</a:t>
            </a:r>
            <a:endParaRPr lang="en-US" altLang="zh-CN" dirty="0"/>
          </a:p>
          <a:p>
            <a:r>
              <a:rPr lang="en-US" altLang="zh-CN" dirty="0"/>
              <a:t>the 'subflow' flags.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After this configuration, we can run NVMe MPTCP now. The 'fio' benchmark</a:t>
            </a:r>
            <a:endParaRPr lang="en-US" altLang="zh-CN" dirty="0"/>
          </a:p>
          <a:p>
            <a:r>
              <a:rPr lang="en-US" altLang="zh-CN" dirty="0"/>
              <a:t>shows the speed reached about 400 megabytes per second. That means all</a:t>
            </a:r>
            <a:endParaRPr lang="en-US" altLang="zh-CN" dirty="0"/>
          </a:p>
          <a:p>
            <a:r>
              <a:rPr lang="en-US" altLang="zh-CN" dirty="0"/>
              <a:t>four network devices on both sides are used for the NVMe MPTCP</a:t>
            </a:r>
            <a:endParaRPr lang="en-US" altLang="zh-CN" dirty="0"/>
          </a:p>
          <a:p>
            <a:r>
              <a:rPr lang="en-US" altLang="zh-CN" dirty="0"/>
              <a:t>communication. It also means that in a four-network-device environment,</a:t>
            </a:r>
            <a:endParaRPr lang="en-US" altLang="zh-CN" dirty="0"/>
          </a:p>
          <a:p>
            <a:r>
              <a:rPr lang="en-US" altLang="zh-CN" dirty="0"/>
              <a:t>NVMe MPTCP achieves a four times performance improvement.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 also did similar experiments in environments on real machines with real</a:t>
            </a:r>
            <a:endParaRPr lang="en-US" altLang="zh-CN" dirty="0"/>
          </a:p>
          <a:p>
            <a:r>
              <a:rPr lang="en-US" altLang="zh-CN" dirty="0"/>
              <a:t>network devices, and obtained the same conclusion.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How is all this achieved? Let's go to the next slide.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I took a very practical, engineering-style approach to implement this</a:t>
            </a:r>
            <a:endParaRPr lang="en-US" altLang="zh-CN"/>
          </a:p>
          <a:p>
            <a:r>
              <a:rPr lang="en-US" altLang="zh-CN"/>
              <a:t>feature, I first modified the socket creation code for both the target</a:t>
            </a:r>
            <a:endParaRPr lang="en-US" altLang="zh-CN"/>
          </a:p>
          <a:p>
            <a:r>
              <a:rPr lang="en-US" altLang="zh-CN"/>
              <a:t>side and host side, hardcoding the protocol number from IPPROTO_TCP to</a:t>
            </a:r>
            <a:endParaRPr lang="en-US" altLang="zh-CN"/>
          </a:p>
          <a:p>
            <a:r>
              <a:rPr lang="en-US" altLang="zh-CN"/>
              <a:t>IPPROTO_MPTCP to create MPTCP sockets by force, and then I wrote a test</a:t>
            </a:r>
            <a:endParaRPr lang="en-US" altLang="zh-CN"/>
          </a:p>
          <a:p>
            <a:r>
              <a:rPr lang="en-US" altLang="zh-CN"/>
              <a:t>script to run it, and got some failures.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first is a crash of 'list_add corruption'. Debugging showed it</a:t>
            </a:r>
            <a:endParaRPr lang="en-US" altLang="zh-CN"/>
          </a:p>
          <a:p>
            <a:r>
              <a:rPr lang="en-US" altLang="zh-CN"/>
              <a:t>happened inside tcp_sock_set_nodelay. We cannot use the TCP version of</a:t>
            </a:r>
            <a:endParaRPr lang="en-US" altLang="zh-CN"/>
          </a:p>
          <a:p>
            <a:r>
              <a:rPr lang="en-US" altLang="zh-CN"/>
              <a:t>the set_nodelay helper on MPTCP sockets; that causes a crash. I need</a:t>
            </a:r>
            <a:endParaRPr lang="en-US" altLang="zh-CN"/>
          </a:p>
          <a:p>
            <a:r>
              <a:rPr lang="en-US" altLang="zh-CN"/>
              <a:t>to implement an MPTCP‑specific version of this helper, and use it for MPTCP sockets.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After fixing that, I continued testing. I got another error 'Address</a:t>
            </a:r>
            <a:endParaRPr lang="en-US" altLang="zh-CN"/>
          </a:p>
          <a:p>
            <a:r>
              <a:rPr lang="en-US" altLang="zh-CN"/>
              <a:t>already in use' from 'bind()' on the target side, indicating that the</a:t>
            </a:r>
            <a:endParaRPr lang="en-US" altLang="zh-CN"/>
          </a:p>
          <a:p>
            <a:r>
              <a:rPr lang="en-US" altLang="zh-CN"/>
              <a:t>reuse address (set_reuseaddr) behavior was not set correctly, so I then</a:t>
            </a:r>
            <a:endParaRPr lang="en-US" altLang="zh-CN"/>
          </a:p>
          <a:p>
            <a:r>
              <a:rPr lang="en-US" altLang="zh-CN"/>
              <a:t>implemented an MPTCP‑specific version of set_reuseaddr helper too, and used it</a:t>
            </a:r>
            <a:endParaRPr lang="en-US" altLang="zh-CN"/>
          </a:p>
          <a:p>
            <a:r>
              <a:rPr lang="en-US" altLang="zh-CN"/>
              <a:t>for MPTCP sockets.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Then on the host side the 'nvme disconnect' command sometimes failed.</a:t>
            </a:r>
            <a:endParaRPr lang="en-US" altLang="zh-CN"/>
          </a:p>
          <a:p>
            <a:r>
              <a:rPr lang="en-US" altLang="zh-CN"/>
              <a:t>That turned out to be no_linger behavior not being set correctly for</a:t>
            </a:r>
            <a:endParaRPr lang="en-US" altLang="zh-CN"/>
          </a:p>
          <a:p>
            <a:r>
              <a:rPr lang="en-US" altLang="zh-CN"/>
              <a:t>MPTCP sockets. So I implemented an MPTCP‑specific version of no_linger helper</a:t>
            </a:r>
            <a:endParaRPr lang="en-US" altLang="zh-CN"/>
          </a:p>
          <a:p>
            <a:r>
              <a:rPr lang="en-US" altLang="zh-CN"/>
              <a:t>too, and used it for MPTCP sockets.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 the end, I realized that all the helpers used to change the behavior</a:t>
            </a:r>
            <a:endParaRPr lang="en-US" altLang="zh-CN"/>
          </a:p>
          <a:p>
            <a:r>
              <a:rPr lang="en-US" altLang="zh-CN"/>
              <a:t>of NVMe sockets needed to have MPTCP‑specific versions and to be used</a:t>
            </a:r>
            <a:endParaRPr lang="en-US" altLang="zh-CN"/>
          </a:p>
          <a:p>
            <a:r>
              <a:rPr lang="en-US" altLang="zh-CN"/>
              <a:t>for MPTCP sockets. They are six helpers in total. After switching to</a:t>
            </a:r>
            <a:endParaRPr lang="en-US" altLang="zh-CN"/>
          </a:p>
          <a:p>
            <a:r>
              <a:rPr lang="en-US" altLang="zh-CN"/>
              <a:t>using all six MPTCP‑specific helpers, the tests worked well and became</a:t>
            </a:r>
            <a:endParaRPr lang="en-US" altLang="zh-CN"/>
          </a:p>
          <a:p>
            <a:r>
              <a:rPr lang="en-US" altLang="zh-CN"/>
              <a:t>stable.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Then I thought all the changes were done. I went back to think about the</a:t>
            </a:r>
            <a:endParaRPr lang="en-US" altLang="zh-CN"/>
          </a:p>
          <a:p>
            <a:r>
              <a:rPr lang="en-US" altLang="zh-CN"/>
              <a:t>code architecture.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 abstracted all the places that needed to be changed from TCP to MPTCP</a:t>
            </a:r>
            <a:endParaRPr lang="en-US" altLang="zh-CN"/>
          </a:p>
          <a:p>
            <a:r>
              <a:rPr lang="en-US" altLang="zh-CN"/>
              <a:t>into a structure, which can describe all the differences between using</a:t>
            </a:r>
            <a:endParaRPr lang="en-US" altLang="zh-CN"/>
          </a:p>
          <a:p>
            <a:r>
              <a:rPr lang="en-US" altLang="zh-CN"/>
              <a:t>TCP and MPTCP in NVMe. It includes the protocol number and the six</a:t>
            </a:r>
            <a:endParaRPr lang="en-US" altLang="zh-CN"/>
          </a:p>
          <a:p>
            <a:r>
              <a:rPr lang="en-US" altLang="zh-CN"/>
              <a:t>interfaces that change socket behavior, and then defines two different</a:t>
            </a:r>
            <a:endParaRPr lang="en-US" altLang="zh-CN"/>
          </a:p>
          <a:p>
            <a:r>
              <a:rPr lang="en-US" altLang="zh-CN"/>
              <a:t>instances of this structure for TCP and MPTCP, and then switches between</a:t>
            </a:r>
            <a:endParaRPr lang="en-US" altLang="zh-CN"/>
          </a:p>
          <a:p>
            <a:r>
              <a:rPr lang="en-US" altLang="zh-CN"/>
              <a:t>them based on the transport type.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However, there are slight differences between the interfaces on the target</a:t>
            </a:r>
            <a:endParaRPr lang="en-US" altLang="zh-CN"/>
          </a:p>
          <a:p>
            <a:r>
              <a:rPr lang="en-US" altLang="zh-CN"/>
              <a:t>side and the host side. set_reuseaddr interface is only used on the target,</a:t>
            </a:r>
            <a:endParaRPr lang="en-US" altLang="zh-CN"/>
          </a:p>
          <a:p>
            <a:r>
              <a:rPr lang="en-US" altLang="zh-CN"/>
              <a:t>while set_syncnt is only used on the host. It ended up being separated into</a:t>
            </a:r>
            <a:endParaRPr lang="en-US" altLang="zh-CN"/>
          </a:p>
          <a:p>
            <a:r>
              <a:rPr lang="en-US" altLang="zh-CN"/>
              <a:t>two structures: one for the target (nvmet_tcp_proto) and the other for the host</a:t>
            </a:r>
            <a:endParaRPr lang="en-US" altLang="zh-CN"/>
          </a:p>
          <a:p>
            <a:r>
              <a:rPr lang="en-US" altLang="zh-CN"/>
              <a:t>(nvme_tcp_proto).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Let's look at the target one first.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On the target side, we define a NVMe target tcp_proto structure, and</a:t>
            </a:r>
            <a:endParaRPr lang="en-US" altLang="zh-CN" dirty="0"/>
          </a:p>
          <a:p>
            <a:r>
              <a:rPr lang="en-US" altLang="zh-CN" dirty="0"/>
              <a:t>put the protocol number and the five interfaces to change the behavior</a:t>
            </a:r>
            <a:endParaRPr lang="en-US" altLang="zh-CN" dirty="0"/>
          </a:p>
          <a:p>
            <a:r>
              <a:rPr lang="en-US" altLang="zh-CN" dirty="0"/>
              <a:t>of the socket into it, and define two instances of this structure for</a:t>
            </a:r>
            <a:endParaRPr lang="en-US" altLang="zh-CN" dirty="0"/>
          </a:p>
          <a:p>
            <a:r>
              <a:rPr lang="en-US" altLang="zh-CN" dirty="0"/>
              <a:t>TCP and MPTCP. Add a pointer to this structure in nvme target tcp_port.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Define a new MPTCP transport type, and a new MPTCP fabrics ops. This ops</a:t>
            </a:r>
            <a:endParaRPr lang="en-US" altLang="zh-CN" dirty="0"/>
          </a:p>
          <a:p>
            <a:r>
              <a:rPr lang="en-US" altLang="zh-CN" dirty="0"/>
              <a:t>is the same as the TCP one, only the transport type is different.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When adding a port, the add_port callback is called for both TCP and</a:t>
            </a:r>
            <a:endParaRPr lang="en-US" altLang="zh-CN" dirty="0"/>
          </a:p>
          <a:p>
            <a:r>
              <a:rPr lang="en-US" altLang="zh-CN" dirty="0"/>
              <a:t>MPTCP. In this callback, initialize the pointer in tcp_port to a</a:t>
            </a:r>
            <a:endParaRPr lang="en-US" altLang="zh-CN" dirty="0"/>
          </a:p>
          <a:p>
            <a:r>
              <a:rPr lang="en-US" altLang="zh-CN" dirty="0"/>
              <a:t>different instance based on whether the transport type is TCP or MPTCP.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Afterwards, we access the instance through the pointer in tcp_port, and</a:t>
            </a:r>
            <a:endParaRPr lang="en-US" altLang="zh-CN" dirty="0"/>
          </a:p>
          <a:p>
            <a:r>
              <a:rPr lang="en-US" altLang="zh-CN" dirty="0"/>
              <a:t>use the protocol number of this instance to create the socket and call</a:t>
            </a:r>
            <a:endParaRPr lang="en-US" altLang="zh-CN" dirty="0"/>
          </a:p>
          <a:p>
            <a:r>
              <a:rPr lang="en-US" altLang="zh-CN" dirty="0"/>
              <a:t>the corresponding interfaces of this instance to change the socket</a:t>
            </a:r>
            <a:endParaRPr lang="en-US" altLang="zh-CN" dirty="0"/>
          </a:p>
          <a:p>
            <a:r>
              <a:rPr lang="en-US" altLang="zh-CN" dirty="0"/>
              <a:t>behavior.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That is the implementation of the target side.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The implementation on the host side is similar.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Define a NVMe tcp_proto structure, and put the protocol number and the five</a:t>
            </a:r>
            <a:endParaRPr lang="en-US" altLang="zh-CN"/>
          </a:p>
          <a:p>
            <a:r>
              <a:rPr lang="en-US" altLang="zh-CN"/>
              <a:t>interfaces to change the behavior of the socket into it, and define two</a:t>
            </a:r>
            <a:endParaRPr lang="en-US" altLang="zh-CN"/>
          </a:p>
          <a:p>
            <a:r>
              <a:rPr lang="en-US" altLang="zh-CN"/>
              <a:t>instances of this structure for TCP and MPTCP. Add a pointer to this structure</a:t>
            </a:r>
            <a:endParaRPr lang="en-US" altLang="zh-CN"/>
          </a:p>
          <a:p>
            <a:r>
              <a:rPr lang="en-US" altLang="zh-CN"/>
              <a:t>in NVMe tcp_ctrl. Then, define a new MPTCP transport ops, which is the same</a:t>
            </a:r>
            <a:endParaRPr lang="en-US" altLang="zh-CN"/>
          </a:p>
          <a:p>
            <a:r>
              <a:rPr lang="en-US" altLang="zh-CN"/>
              <a:t>as the TCP one, only the name is different. When allocating a new tcp_ctrl,</a:t>
            </a:r>
            <a:endParaRPr lang="en-US" altLang="zh-CN"/>
          </a:p>
          <a:p>
            <a:r>
              <a:rPr lang="en-US" altLang="zh-CN"/>
              <a:t>initialize its pointer to a different instance based on the transport name is</a:t>
            </a:r>
            <a:endParaRPr lang="en-US" altLang="zh-CN"/>
          </a:p>
          <a:p>
            <a:r>
              <a:rPr lang="en-US" altLang="zh-CN"/>
              <a:t>"tcp" or "mptcp". Afterwards, we access the instance through the pointer in</a:t>
            </a:r>
            <a:endParaRPr lang="en-US" altLang="zh-CN"/>
          </a:p>
          <a:p>
            <a:r>
              <a:rPr lang="en-US" altLang="zh-CN"/>
              <a:t>tcp_ctrl, use this instance to create the socket and change its behavior.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What do you think of this approach?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Here I have listed several frequently asked questions: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 Can we, keep the NVMe code unchanged, just use MPTCP tools to convert</a:t>
            </a:r>
            <a:endParaRPr lang="en-US" altLang="zh-CN" dirty="0"/>
          </a:p>
          <a:p>
            <a:r>
              <a:rPr lang="en-US" altLang="zh-CN" dirty="0"/>
              <a:t>NVMe TCP to use MPTCP by force?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answer is no. Tools like mptcpize and BCC mptcpify allow legacy</a:t>
            </a:r>
            <a:endParaRPr lang="en-US" altLang="zh-CN" dirty="0"/>
          </a:p>
          <a:p>
            <a:r>
              <a:rPr lang="en-US" altLang="zh-CN" dirty="0"/>
              <a:t>(ˈle</a:t>
            </a:r>
            <a:r>
              <a:rPr lang="en-US" altLang="en-US" dirty="0"/>
              <a:t>ɡ.</a:t>
            </a:r>
            <a:r>
              <a:rPr lang="en-US" altLang="en-US" dirty="0"/>
              <a:t>ə.</a:t>
            </a:r>
            <a:r>
              <a:rPr lang="en-US" altLang="zh-CN" dirty="0"/>
              <a:t>si old) TCP programs to use MPTCP without code changes - they</a:t>
            </a:r>
            <a:endParaRPr lang="en-US" altLang="zh-CN" dirty="0"/>
          </a:p>
          <a:p>
            <a:r>
              <a:rPr lang="en-US" altLang="zh-CN" dirty="0"/>
              <a:t>dynamically replace TCP socket creation with MPTCP socket creation at</a:t>
            </a:r>
            <a:endParaRPr lang="en-US" altLang="zh-CN" dirty="0"/>
          </a:p>
          <a:p>
            <a:r>
              <a:rPr lang="en-US" altLang="zh-CN" dirty="0"/>
              <a:t>runtime in the path of the socket syscall. NVMe TCP creates sockets</a:t>
            </a:r>
            <a:endParaRPr lang="en-US" altLang="zh-CN" dirty="0"/>
          </a:p>
          <a:p>
            <a:r>
              <a:rPr lang="en-US" altLang="zh-CN" dirty="0"/>
              <a:t>directly from kernel space and does not invoke socket syscalls, so these</a:t>
            </a:r>
            <a:endParaRPr lang="en-US" altLang="zh-CN" dirty="0"/>
          </a:p>
          <a:p>
            <a:r>
              <a:rPr lang="en-US" altLang="zh-CN" dirty="0"/>
              <a:t>tools have no effect. We do need to change the NVMe code to add MPTCP</a:t>
            </a:r>
            <a:endParaRPr lang="en-US" altLang="zh-CN" dirty="0"/>
          </a:p>
          <a:p>
            <a:r>
              <a:rPr lang="en-US" altLang="zh-CN" dirty="0"/>
              <a:t>support.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Can NVMe MPTCP work with NVMe multipath? Both of their names contain</a:t>
            </a:r>
            <a:endParaRPr lang="en-US" altLang="zh-CN" dirty="0"/>
          </a:p>
          <a:p>
            <a:r>
              <a:rPr lang="en-US" altLang="zh-CN" dirty="0"/>
              <a:t>'multipath'.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answer is yes. They work together at different layers. The selftest</a:t>
            </a:r>
            <a:endParaRPr lang="en-US" altLang="zh-CN" dirty="0"/>
          </a:p>
          <a:p>
            <a:r>
              <a:rPr lang="en-US" altLang="zh-CN" dirty="0"/>
              <a:t>of NVMe MPTCP shows that NVME MPTCP can work with different I/O policies,</a:t>
            </a:r>
            <a:endParaRPr lang="en-US" altLang="zh-CN" dirty="0"/>
          </a:p>
          <a:p>
            <a:r>
              <a:rPr lang="en-US" altLang="zh-CN" dirty="0"/>
              <a:t>that is NVMe multipath. They can work together with no conflict.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 Can NVMe MPTCP work with Block multiqueue?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answer is yes too. There is not just one TCP connection between</a:t>
            </a:r>
            <a:endParaRPr lang="en-US" altLang="zh-CN" dirty="0"/>
          </a:p>
          <a:p>
            <a:r>
              <a:rPr lang="en-US" altLang="zh-CN" dirty="0"/>
              <a:t>the target and host - NVMe TCP uses block multiqueue to establish several</a:t>
            </a:r>
            <a:endParaRPr lang="en-US" altLang="zh-CN" dirty="0"/>
          </a:p>
          <a:p>
            <a:r>
              <a:rPr lang="en-US" altLang="zh-CN" dirty="0"/>
              <a:t>TCP connections between them. It includes one admin queue for management</a:t>
            </a:r>
            <a:endParaRPr lang="en-US" altLang="zh-CN" dirty="0"/>
          </a:p>
          <a:p>
            <a:r>
              <a:rPr lang="en-US" altLang="zh-CN" dirty="0"/>
              <a:t>traffic and several I/O queues for data traffic. NVMe MPTCP changes all</a:t>
            </a:r>
            <a:endParaRPr lang="en-US" altLang="zh-CN" dirty="0"/>
          </a:p>
          <a:p>
            <a:r>
              <a:rPr lang="en-US" altLang="zh-CN" dirty="0"/>
              <a:t>these TCP connections to MPTCP connections, both the admin queue and the</a:t>
            </a:r>
            <a:endParaRPr lang="en-US" altLang="zh-CN" dirty="0"/>
          </a:p>
          <a:p>
            <a:r>
              <a:rPr lang="en-US" altLang="zh-CN" dirty="0"/>
              <a:t>I/O queues.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 How to select MPTCP? A new transport type? or A TCP variant?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current approach is to define a new transport type for MPTCP.</a:t>
            </a:r>
            <a:endParaRPr lang="en-US" altLang="zh-CN" dirty="0"/>
          </a:p>
          <a:p>
            <a:r>
              <a:rPr lang="en-US" altLang="zh-CN" dirty="0"/>
              <a:t>That is straightforward.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Another option is to declare MPTCP as a TCP 'variant'. For example, in</a:t>
            </a:r>
            <a:endParaRPr lang="en-US" altLang="zh-CN" dirty="0"/>
          </a:p>
          <a:p>
            <a:r>
              <a:rPr lang="en-US" altLang="zh-CN" dirty="0"/>
              <a:t>the TSAS (Transport Specific Address Subtype), just as SECTYPE</a:t>
            </a:r>
            <a:endParaRPr lang="en-US" altLang="zh-CN" dirty="0"/>
          </a:p>
          <a:p>
            <a:r>
              <a:rPr lang="en-US" altLang="zh-CN" dirty="0"/>
              <a:t>represents the versions of TLS (1.2 or 1.3), a new PROTOTYPE can be</a:t>
            </a:r>
            <a:endParaRPr lang="en-US" altLang="zh-CN" dirty="0"/>
          </a:p>
          <a:p>
            <a:r>
              <a:rPr lang="en-US" altLang="zh-CN" dirty="0"/>
              <a:t>added here to represent the protocol is TCP, MPTCP or other future</a:t>
            </a:r>
            <a:endParaRPr lang="en-US" altLang="zh-CN" dirty="0"/>
          </a:p>
          <a:p>
            <a:r>
              <a:rPr lang="en-US" altLang="zh-CN" dirty="0"/>
              <a:t>protocols.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Here is the contact information for myself and the MPTCP community.</a:t>
            </a:r>
            <a:endParaRPr lang="en-US" altLang="zh-CN" dirty="0"/>
          </a:p>
          <a:p>
            <a:r>
              <a:rPr lang="en-US" altLang="zh-CN" dirty="0"/>
              <a:t>You can find me on GitHub, and you can send me an email.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Here are r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eferences.</a:t>
            </a:r>
            <a:r>
              <a:rPr lang="en-US" altLang="zh-CN"/>
              <a:t> If you want to use this feature,</a:t>
            </a:r>
            <a:endParaRPr lang="en-US" altLang="zh-CN"/>
          </a:p>
          <a:p>
            <a:r>
              <a:rPr lang="en-US" altLang="zh-CN"/>
              <a:t>you can find </a:t>
            </a:r>
            <a:r>
              <a:rPr lang="en-US" altLang="zh-CN">
                <a:sym typeface="+mn-ea"/>
              </a:rPr>
              <a:t>all the patches </a:t>
            </a:r>
            <a:r>
              <a:rPr lang="en-US" altLang="zh-CN"/>
              <a:t>here.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last one is the email thread for this topic.</a:t>
            </a:r>
            <a:endParaRPr lang="en-US" altLang="zh-CN"/>
          </a:p>
          <a:p>
            <a:r>
              <a:rPr lang="en-US" altLang="zh-CN"/>
              <a:t>Feel free to reply with any thoughts, suggestions, or questions.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 you have any questions, we can address them here.</a:t>
            </a:r>
            <a:endParaRPr lang="en-US" altLang="zh-CN" dirty="0"/>
          </a:p>
          <a:p>
            <a:r>
              <a:rPr lang="en-US" altLang="zh-CN" dirty="0"/>
              <a:t>If I can't answer it immediately, I'll follow up with you by email or some other way.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Thank you very much for your interest in NVMe MPTCP.</a:t>
            </a:r>
            <a:endParaRPr lang="en-US" altLang="zh-CN" dirty="0"/>
          </a:p>
          <a:p>
            <a:r>
              <a:rPr lang="en-US" altLang="zh-CN" dirty="0"/>
              <a:t>I know the process will take a long time, but I'll do my best to push this feature upstream.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7486" cy="6666127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" y="6350"/>
            <a:ext cx="12190413" cy="6611938"/>
            <a:chOff x="-6350" y="6350"/>
            <a:chExt cx="12190413" cy="6611938"/>
          </a:xfrm>
        </p:grpSpPr>
        <p:sp>
          <p:nvSpPr>
            <p:cNvPr id="3" name="AutoShape 3"/>
            <p:cNvSpPr/>
            <p:nvPr/>
          </p:nvSpPr>
          <p:spPr>
            <a:xfrm flipH="1">
              <a:off x="-6350" y="6521450"/>
              <a:ext cx="12190413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710463" y="1665288"/>
              <a:ext cx="363538" cy="363538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896200" y="2090738"/>
              <a:ext cx="0" cy="698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020025" y="2057400"/>
              <a:ext cx="33338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108925" y="1966913"/>
              <a:ext cx="55563" cy="34925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2135913" y="1843088"/>
              <a:ext cx="69850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2108925" y="1692275"/>
              <a:ext cx="55563" cy="34925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2020025" y="1574800"/>
              <a:ext cx="33338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1896200" y="1533525"/>
              <a:ext cx="0" cy="698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1" flipV="1">
              <a:off x="1737450" y="1574800"/>
              <a:ext cx="34925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1" flipV="1">
              <a:off x="1619975" y="1692275"/>
              <a:ext cx="61913" cy="34925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flipH="1">
              <a:off x="1578700" y="1843088"/>
              <a:ext cx="69850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flipH="1">
              <a:off x="1619975" y="1966913"/>
              <a:ext cx="61913" cy="34925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1737450" y="2057400"/>
              <a:ext cx="34925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896200" y="6350"/>
              <a:ext cx="0" cy="141763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1215163" y="1409700"/>
              <a:ext cx="1362075" cy="482600"/>
            </a:xfrm>
            <a:custGeom>
              <a:avLst/>
              <a:gdLst/>
              <a:ahLst/>
              <a:cxnLst/>
              <a:rect l="l" t="t" r="r" b="b"/>
              <a:pathLst>
                <a:path w="198" h="70">
                  <a:moveTo>
                    <a:pt x="17" y="70"/>
                  </a:moveTo>
                  <a:cubicBezTo>
                    <a:pt x="2" y="70"/>
                    <a:pt x="0" y="62"/>
                    <a:pt x="12" y="53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88" y="0"/>
                    <a:pt x="109" y="0"/>
                    <a:pt x="122" y="9"/>
                  </a:cubicBezTo>
                  <a:cubicBezTo>
                    <a:pt x="185" y="53"/>
                    <a:pt x="185" y="53"/>
                    <a:pt x="185" y="53"/>
                  </a:cubicBezTo>
                  <a:cubicBezTo>
                    <a:pt x="198" y="62"/>
                    <a:pt x="196" y="70"/>
                    <a:pt x="180" y="70"/>
                  </a:cubicBezTo>
                  <a:lnTo>
                    <a:pt x="17" y="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10541000" y="4375150"/>
              <a:ext cx="804863" cy="1568450"/>
            </a:xfrm>
            <a:custGeom>
              <a:avLst/>
              <a:gdLst/>
              <a:ahLst/>
              <a:cxnLst/>
              <a:rect l="l" t="t" r="r" b="b"/>
              <a:pathLst>
                <a:path w="117" h="228">
                  <a:moveTo>
                    <a:pt x="23" y="228"/>
                  </a:moveTo>
                  <a:cubicBezTo>
                    <a:pt x="5" y="216"/>
                    <a:pt x="16" y="196"/>
                    <a:pt x="8" y="183"/>
                  </a:cubicBezTo>
                  <a:cubicBezTo>
                    <a:pt x="0" y="170"/>
                    <a:pt x="5" y="157"/>
                    <a:pt x="13" y="148"/>
                  </a:cubicBezTo>
                  <a:cubicBezTo>
                    <a:pt x="21" y="140"/>
                    <a:pt x="23" y="133"/>
                    <a:pt x="18" y="121"/>
                  </a:cubicBezTo>
                  <a:cubicBezTo>
                    <a:pt x="12" y="109"/>
                    <a:pt x="18" y="94"/>
                    <a:pt x="24" y="87"/>
                  </a:cubicBezTo>
                  <a:cubicBezTo>
                    <a:pt x="29" y="80"/>
                    <a:pt x="42" y="71"/>
                    <a:pt x="48" y="42"/>
                  </a:cubicBezTo>
                  <a:cubicBezTo>
                    <a:pt x="53" y="13"/>
                    <a:pt x="92" y="0"/>
                    <a:pt x="92" y="0"/>
                  </a:cubicBezTo>
                  <a:cubicBezTo>
                    <a:pt x="92" y="0"/>
                    <a:pt x="117" y="32"/>
                    <a:pt x="105" y="59"/>
                  </a:cubicBezTo>
                  <a:cubicBezTo>
                    <a:pt x="94" y="86"/>
                    <a:pt x="99" y="101"/>
                    <a:pt x="100" y="110"/>
                  </a:cubicBezTo>
                  <a:cubicBezTo>
                    <a:pt x="101" y="119"/>
                    <a:pt x="98" y="135"/>
                    <a:pt x="87" y="142"/>
                  </a:cubicBezTo>
                  <a:cubicBezTo>
                    <a:pt x="75" y="148"/>
                    <a:pt x="73" y="155"/>
                    <a:pt x="75" y="167"/>
                  </a:cubicBezTo>
                  <a:cubicBezTo>
                    <a:pt x="77" y="179"/>
                    <a:pt x="74" y="193"/>
                    <a:pt x="60" y="199"/>
                  </a:cubicBezTo>
                  <a:cubicBezTo>
                    <a:pt x="46" y="206"/>
                    <a:pt x="44" y="228"/>
                    <a:pt x="23" y="22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10698163" y="4375150"/>
              <a:ext cx="474663" cy="15684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 flipH="1" flipV="1">
              <a:off x="10685463" y="5483225"/>
              <a:ext cx="95250" cy="18573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 flipV="1">
              <a:off x="10795000" y="5537200"/>
              <a:ext cx="200025" cy="7620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 flipV="1">
              <a:off x="11056938" y="4705350"/>
              <a:ext cx="157163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 flipV="1">
              <a:off x="10918825" y="5118100"/>
              <a:ext cx="261938" cy="10318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 flipH="1" flipV="1">
              <a:off x="10780713" y="5021263"/>
              <a:ext cx="123825" cy="24130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 flipH="1" flipV="1">
              <a:off x="10960100" y="4691063"/>
              <a:ext cx="76200" cy="14446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086975" y="4416425"/>
              <a:ext cx="735013" cy="1450975"/>
            </a:xfrm>
            <a:custGeom>
              <a:avLst/>
              <a:gdLst/>
              <a:ahLst/>
              <a:cxnLst/>
              <a:rect l="l" t="t" r="r" b="b"/>
              <a:pathLst>
                <a:path w="107" h="211">
                  <a:moveTo>
                    <a:pt x="86" y="211"/>
                  </a:moveTo>
                  <a:cubicBezTo>
                    <a:pt x="102" y="200"/>
                    <a:pt x="92" y="182"/>
                    <a:pt x="100" y="170"/>
                  </a:cubicBezTo>
                  <a:cubicBezTo>
                    <a:pt x="107" y="158"/>
                    <a:pt x="102" y="146"/>
                    <a:pt x="95" y="138"/>
                  </a:cubicBezTo>
                  <a:cubicBezTo>
                    <a:pt x="88" y="130"/>
                    <a:pt x="86" y="123"/>
                    <a:pt x="91" y="112"/>
                  </a:cubicBezTo>
                  <a:cubicBezTo>
                    <a:pt x="97" y="101"/>
                    <a:pt x="91" y="87"/>
                    <a:pt x="86" y="81"/>
                  </a:cubicBezTo>
                  <a:cubicBezTo>
                    <a:pt x="81" y="75"/>
                    <a:pt x="69" y="66"/>
                    <a:pt x="64" y="39"/>
                  </a:cubicBezTo>
                  <a:cubicBezTo>
                    <a:pt x="60" y="13"/>
                    <a:pt x="24" y="0"/>
                    <a:pt x="24" y="0"/>
                  </a:cubicBezTo>
                  <a:cubicBezTo>
                    <a:pt x="24" y="0"/>
                    <a:pt x="0" y="30"/>
                    <a:pt x="11" y="55"/>
                  </a:cubicBezTo>
                  <a:cubicBezTo>
                    <a:pt x="21" y="80"/>
                    <a:pt x="16" y="94"/>
                    <a:pt x="15" y="102"/>
                  </a:cubicBezTo>
                  <a:cubicBezTo>
                    <a:pt x="14" y="110"/>
                    <a:pt x="17" y="124"/>
                    <a:pt x="27" y="131"/>
                  </a:cubicBezTo>
                  <a:cubicBezTo>
                    <a:pt x="38" y="137"/>
                    <a:pt x="40" y="144"/>
                    <a:pt x="38" y="154"/>
                  </a:cubicBezTo>
                  <a:cubicBezTo>
                    <a:pt x="36" y="165"/>
                    <a:pt x="39" y="178"/>
                    <a:pt x="52" y="184"/>
                  </a:cubicBezTo>
                  <a:cubicBezTo>
                    <a:pt x="64" y="190"/>
                    <a:pt x="66" y="210"/>
                    <a:pt x="86" y="21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 flipH="1" flipV="1">
              <a:off x="10252075" y="4416425"/>
              <a:ext cx="425450" cy="1450975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10602913" y="5441950"/>
              <a:ext cx="88900" cy="1714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 flipH="1" flipV="1">
              <a:off x="10402888" y="5489575"/>
              <a:ext cx="185738" cy="7620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 flipH="1" flipV="1">
              <a:off x="10210800" y="4719638"/>
              <a:ext cx="144463" cy="619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1" flipV="1">
              <a:off x="10237788" y="5097463"/>
              <a:ext cx="241300" cy="10318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V="1">
              <a:off x="10491788" y="5014913"/>
              <a:ext cx="111125" cy="22066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V="1">
              <a:off x="10375900" y="4711700"/>
              <a:ext cx="68263" cy="13176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9963150" y="5227638"/>
              <a:ext cx="625475" cy="695325"/>
            </a:xfrm>
            <a:custGeom>
              <a:avLst/>
              <a:gdLst/>
              <a:ahLst/>
              <a:cxnLst/>
              <a:rect l="l" t="t" r="r" b="b"/>
              <a:pathLst>
                <a:path w="91" h="101">
                  <a:moveTo>
                    <a:pt x="86" y="96"/>
                  </a:moveTo>
                  <a:cubicBezTo>
                    <a:pt x="91" y="87"/>
                    <a:pt x="82" y="80"/>
                    <a:pt x="83" y="72"/>
                  </a:cubicBezTo>
                  <a:cubicBezTo>
                    <a:pt x="85" y="64"/>
                    <a:pt x="79" y="59"/>
                    <a:pt x="74" y="56"/>
                  </a:cubicBezTo>
                  <a:cubicBezTo>
                    <a:pt x="68" y="54"/>
                    <a:pt x="65" y="51"/>
                    <a:pt x="66" y="44"/>
                  </a:cubicBezTo>
                  <a:cubicBezTo>
                    <a:pt x="66" y="37"/>
                    <a:pt x="60" y="31"/>
                    <a:pt x="56" y="29"/>
                  </a:cubicBezTo>
                  <a:cubicBezTo>
                    <a:pt x="52" y="27"/>
                    <a:pt x="43" y="25"/>
                    <a:pt x="35" y="12"/>
                  </a:cubicBezTo>
                  <a:cubicBezTo>
                    <a:pt x="26" y="0"/>
                    <a:pt x="5" y="2"/>
                    <a:pt x="5" y="2"/>
                  </a:cubicBezTo>
                  <a:cubicBezTo>
                    <a:pt x="5" y="2"/>
                    <a:pt x="0" y="22"/>
                    <a:pt x="11" y="33"/>
                  </a:cubicBezTo>
                  <a:cubicBezTo>
                    <a:pt x="22" y="43"/>
                    <a:pt x="22" y="52"/>
                    <a:pt x="24" y="56"/>
                  </a:cubicBezTo>
                  <a:cubicBezTo>
                    <a:pt x="25" y="60"/>
                    <a:pt x="30" y="67"/>
                    <a:pt x="37" y="68"/>
                  </a:cubicBezTo>
                  <a:cubicBezTo>
                    <a:pt x="44" y="69"/>
                    <a:pt x="47" y="72"/>
                    <a:pt x="48" y="78"/>
                  </a:cubicBezTo>
                  <a:cubicBezTo>
                    <a:pt x="49" y="84"/>
                    <a:pt x="54" y="90"/>
                    <a:pt x="62" y="90"/>
                  </a:cubicBezTo>
                  <a:cubicBezTo>
                    <a:pt x="70" y="90"/>
                    <a:pt x="75" y="101"/>
                    <a:pt x="86" y="9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 flipH="1" flipV="1">
              <a:off x="9996488" y="5241925"/>
              <a:ext cx="557213" cy="6461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0458450" y="5668963"/>
              <a:ext cx="6350" cy="10953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 flipH="1">
              <a:off x="10326688" y="5757863"/>
              <a:ext cx="111125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 flipH="1">
              <a:off x="10045700" y="5400675"/>
              <a:ext cx="88900" cy="63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 flipH="1">
              <a:off x="10148888" y="5592763"/>
              <a:ext cx="144463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 flipV="1">
              <a:off x="10306050" y="5468938"/>
              <a:ext cx="14288" cy="1381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 flipV="1">
              <a:off x="10161588" y="5345113"/>
              <a:ext cx="0" cy="825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10774363" y="5227638"/>
              <a:ext cx="625475" cy="695325"/>
            </a:xfrm>
            <a:custGeom>
              <a:avLst/>
              <a:gdLst/>
              <a:ahLst/>
              <a:cxnLst/>
              <a:rect l="l" t="t" r="r" b="b"/>
              <a:pathLst>
                <a:path w="91" h="101">
                  <a:moveTo>
                    <a:pt x="5" y="96"/>
                  </a:moveTo>
                  <a:cubicBezTo>
                    <a:pt x="0" y="87"/>
                    <a:pt x="9" y="80"/>
                    <a:pt x="8" y="72"/>
                  </a:cubicBezTo>
                  <a:cubicBezTo>
                    <a:pt x="6" y="64"/>
                    <a:pt x="12" y="59"/>
                    <a:pt x="17" y="56"/>
                  </a:cubicBezTo>
                  <a:cubicBezTo>
                    <a:pt x="23" y="54"/>
                    <a:pt x="26" y="51"/>
                    <a:pt x="25" y="44"/>
                  </a:cubicBezTo>
                  <a:cubicBezTo>
                    <a:pt x="25" y="37"/>
                    <a:pt x="31" y="31"/>
                    <a:pt x="35" y="29"/>
                  </a:cubicBezTo>
                  <a:cubicBezTo>
                    <a:pt x="39" y="27"/>
                    <a:pt x="48" y="25"/>
                    <a:pt x="56" y="12"/>
                  </a:cubicBezTo>
                  <a:cubicBezTo>
                    <a:pt x="65" y="0"/>
                    <a:pt x="86" y="2"/>
                    <a:pt x="86" y="2"/>
                  </a:cubicBezTo>
                  <a:cubicBezTo>
                    <a:pt x="86" y="2"/>
                    <a:pt x="91" y="22"/>
                    <a:pt x="80" y="33"/>
                  </a:cubicBezTo>
                  <a:cubicBezTo>
                    <a:pt x="69" y="43"/>
                    <a:pt x="68" y="52"/>
                    <a:pt x="67" y="56"/>
                  </a:cubicBezTo>
                  <a:cubicBezTo>
                    <a:pt x="66" y="60"/>
                    <a:pt x="61" y="67"/>
                    <a:pt x="54" y="68"/>
                  </a:cubicBezTo>
                  <a:cubicBezTo>
                    <a:pt x="47" y="69"/>
                    <a:pt x="44" y="72"/>
                    <a:pt x="43" y="78"/>
                  </a:cubicBezTo>
                  <a:cubicBezTo>
                    <a:pt x="42" y="84"/>
                    <a:pt x="37" y="90"/>
                    <a:pt x="29" y="90"/>
                  </a:cubicBezTo>
                  <a:cubicBezTo>
                    <a:pt x="21" y="90"/>
                    <a:pt x="15" y="101"/>
                    <a:pt x="5" y="9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 flipV="1">
              <a:off x="10809288" y="5241925"/>
              <a:ext cx="557213" cy="6461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 flipH="1" flipV="1">
              <a:off x="10898188" y="5668963"/>
              <a:ext cx="6350" cy="109538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0925175" y="5757863"/>
              <a:ext cx="111125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11228388" y="5400675"/>
              <a:ext cx="88900" cy="63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11069638" y="5592763"/>
              <a:ext cx="144463" cy="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 flipH="1" flipV="1">
              <a:off x="11042650" y="5468938"/>
              <a:ext cx="14288" cy="138113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 flipV="1">
              <a:off x="11201400" y="5345113"/>
              <a:ext cx="0" cy="82550"/>
            </a:xfrm>
            <a:prstGeom prst="line">
              <a:avLst/>
            </a:prstGeom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0252075" y="5784850"/>
              <a:ext cx="858838" cy="571500"/>
            </a:xfrm>
            <a:custGeom>
              <a:avLst/>
              <a:gdLst/>
              <a:ahLst/>
              <a:cxnLst/>
              <a:rect l="l" t="t" r="r" b="b"/>
              <a:pathLst>
                <a:path w="541" h="360">
                  <a:moveTo>
                    <a:pt x="476" y="360"/>
                  </a:moveTo>
                  <a:lnTo>
                    <a:pt x="65" y="360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476" y="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237788" y="6184900"/>
              <a:ext cx="82550" cy="43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1042650" y="6184900"/>
              <a:ext cx="82550" cy="43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320338" y="6356350"/>
              <a:ext cx="722313" cy="76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644188" y="6184900"/>
              <a:ext cx="74613" cy="43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0638">
              <a:solidFill>
                <a:srgbClr val="007DE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68395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7486" cy="6666127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2625" y="1600200"/>
            <a:ext cx="8286115" cy="74676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NVMe over MPTCP</a:t>
            </a:r>
            <a:endParaRPr lang="en-US" sz="5400" b="1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81400" y="2819400"/>
            <a:ext cx="5171440" cy="9696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Multi-Fold Acceleration for NVMe over TCP</a:t>
            </a:r>
            <a:endParaRPr lang="en-US" sz="2000" b="0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in Multi-NIC Environments</a:t>
            </a:r>
            <a:endParaRPr lang="en-US" sz="2000" b="0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77005" y="4572000"/>
            <a:ext cx="4380865" cy="11379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indent="0" algn="r" fontAlgn="auto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4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Geliang Tang - </a:t>
            </a: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MPTCP Community</a:t>
            </a:r>
            <a:endParaRPr lang="en-US" altLang="zh-CN" sz="140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                                               </a:t>
            </a:r>
            <a:r>
              <a:rPr lang="en-US" altLang="zh-CN" sz="14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Kylin Software</a:t>
            </a:r>
            <a:endParaRPr lang="en-US" altLang="zh-CN" sz="14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4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                                           </a:t>
            </a:r>
            <a:endParaRPr lang="en-US" altLang="zh-CN" sz="14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400" b="0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                                                   </a:t>
            </a: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LSF/MM/BPF 2026</a:t>
            </a:r>
            <a:endParaRPr lang="en-US" altLang="zh-CN" sz="140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                                                      Zagreb, May 2026</a:t>
            </a:r>
            <a:endParaRPr lang="en-US" altLang="zh-CN" sz="14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defRPr/>
            </a:pPr>
            <a:endParaRPr lang="en-US" altLang="zh-CN" sz="1400" b="0" i="0">
              <a:solidFill>
                <a:srgbClr val="000000">
                  <a:alpha val="100000"/>
                </a:srgb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8650" y="2438400"/>
            <a:ext cx="10906125" cy="1770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 dirty="0">
                <a:latin typeface="Arial" panose="02080604020202020204" pitchFamily="34" charset="0"/>
                <a:cs typeface="Arial" panose="02080604020202020204" pitchFamily="34" charset="0"/>
              </a:rPr>
              <a:t>Thanks to Hannes Reinecke, Matthieu Baerts, Mat Martineau, Paolo Abeni, Coly Li, Barry Song, Ming Lei, </a:t>
            </a:r>
            <a:r>
              <a:rPr lang="en-US" altLang="zh-CN" sz="2400" dirty="0" err="1">
                <a:latin typeface="Arial" panose="02080604020202020204" pitchFamily="34" charset="0"/>
                <a:cs typeface="Arial" panose="02080604020202020204" pitchFamily="34" charset="0"/>
              </a:rPr>
              <a:t>Zhenwei</a:t>
            </a:r>
            <a:r>
              <a:rPr lang="en-US" altLang="zh-CN" sz="2400" dirty="0">
                <a:latin typeface="Arial" panose="02080604020202020204" pitchFamily="34" charset="0"/>
                <a:cs typeface="Arial" panose="02080604020202020204" pitchFamily="34" charset="0"/>
              </a:rPr>
              <a:t> Pi, Jason Xing,</a:t>
            </a:r>
            <a:r>
              <a:rPr lang="zh-CN" altLang="en-US" sz="240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lang="en-US" altLang="zh-CN" sz="2400" dirty="0">
                <a:latin typeface="Arial" panose="02080604020202020204" pitchFamily="34" charset="0"/>
                <a:cs typeface="Arial" panose="02080604020202020204" pitchFamily="34" charset="0"/>
              </a:rPr>
              <a:t>Hui Zhu, Gang Yan, and others for their help during the development of </a:t>
            </a:r>
            <a:r>
              <a:rPr lang="en-US" altLang="zh-CN" sz="2400" dirty="0" err="1">
                <a:latin typeface="Arial" panose="02080604020202020204" pitchFamily="34" charset="0"/>
                <a:cs typeface="Arial" panose="02080604020202020204" pitchFamily="34" charset="0"/>
              </a:rPr>
              <a:t>NVMe</a:t>
            </a:r>
            <a:r>
              <a:rPr lang="en-US" altLang="zh-CN" sz="2400" dirty="0">
                <a:latin typeface="Arial" panose="02080604020202020204" pitchFamily="34" charset="0"/>
                <a:cs typeface="Arial" panose="02080604020202020204" pitchFamily="34" charset="0"/>
              </a:rPr>
              <a:t> over MPTCP.</a:t>
            </a:r>
            <a:endParaRPr lang="en-US" altLang="zh-CN" sz="24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2/15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85800" y="137160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Introduction to MPTCP</a:t>
            </a:r>
            <a:endParaRPr lang="en-US" sz="240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/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/>
          </a:p>
        </p:txBody>
      </p:sp>
      <p:sp>
        <p:nvSpPr>
          <p:cNvPr id="32" name="TextBox 3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Agenda</a:t>
            </a:r>
            <a:endParaRPr lang="en-US" sz="1100"/>
          </a:p>
        </p:txBody>
      </p:sp>
      <p:sp>
        <p:nvSpPr>
          <p:cNvPr id="37" name="TextBox 9"/>
          <p:cNvSpPr txBox="1"/>
          <p:nvPr/>
        </p:nvSpPr>
        <p:spPr>
          <a:xfrm>
            <a:off x="685800" y="209931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Motivation</a:t>
            </a:r>
            <a:endParaRPr lang="en-US" altLang="zh-CN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39" name="TextBox 9"/>
          <p:cNvSpPr txBox="1"/>
          <p:nvPr/>
        </p:nvSpPr>
        <p:spPr>
          <a:xfrm>
            <a:off x="685800" y="282702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Current Status</a:t>
            </a:r>
            <a:endParaRPr lang="en-US" altLang="zh-CN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0" name="TextBox 9"/>
          <p:cNvSpPr txBox="1"/>
          <p:nvPr/>
        </p:nvSpPr>
        <p:spPr>
          <a:xfrm>
            <a:off x="685800" y="355473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Performance Evaluation</a:t>
            </a:r>
            <a:endParaRPr lang="en-US" altLang="zh-CN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1" name="TextBox 9"/>
          <p:cNvSpPr txBox="1"/>
          <p:nvPr/>
        </p:nvSpPr>
        <p:spPr>
          <a:xfrm>
            <a:off x="685800" y="428244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Implementation</a:t>
            </a:r>
            <a:endParaRPr lang="en-US" altLang="zh-CN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685800" y="4953000"/>
            <a:ext cx="7200000" cy="727710"/>
          </a:xfrm>
          <a:prstGeom prst="rect">
            <a:avLst/>
          </a:prstGeom>
          <a:ln>
            <a:noFill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Discussion</a:t>
            </a:r>
            <a:endParaRPr lang="en-US" altLang="zh-CN" sz="2400" b="1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3/15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Introduction to MPTCP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5800" y="1371600"/>
            <a:ext cx="10467975" cy="553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Multipath TCP or MPTCP is an extension to the standard TCP and is described in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RFC 8684</a:t>
            </a:r>
            <a:r>
              <a:rPr lang="en-US" altLang="zh-CN"/>
              <a:t>.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MPTCP is implemented via </a:t>
            </a:r>
            <a:r>
              <a:rPr lang="en-US" altLang="zh-CN" b="1"/>
              <a:t>TCP Options</a:t>
            </a:r>
            <a:r>
              <a:rPr lang="en-US" altLang="zh-CN"/>
              <a:t>, </a:t>
            </a:r>
            <a:r>
              <a:rPr lang="en-US" altLang="zh-CN">
                <a:solidFill>
                  <a:schemeClr val="tx1"/>
                </a:solidFill>
              </a:rPr>
              <a:t>kind number of MPTCP is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30</a:t>
            </a:r>
            <a:r>
              <a:rPr lang="en-US" altLang="zh-CN"/>
              <a:t>.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It allows a device to </a:t>
            </a:r>
            <a:r>
              <a:rPr lang="en-US" altLang="zh-CN">
                <a:solidFill>
                  <a:schemeClr val="tx1"/>
                </a:solidFill>
              </a:rPr>
              <a:t>make use of </a:t>
            </a:r>
            <a:r>
              <a:rPr lang="en-US" altLang="zh-CN" b="1">
                <a:solidFill>
                  <a:schemeClr val="tx1"/>
                </a:solidFill>
              </a:rPr>
              <a:t>multiple interfaces</a:t>
            </a:r>
            <a:r>
              <a:rPr lang="en-US" altLang="zh-CN">
                <a:solidFill>
                  <a:schemeClr val="tx1"/>
                </a:solidFill>
              </a:rPr>
              <a:t> at once</a:t>
            </a:r>
            <a:r>
              <a:rPr lang="en-US" altLang="zh-CN"/>
              <a:t> to send and receive TCP packets over a single MPTCP connection.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MPTCP can </a:t>
            </a:r>
            <a:r>
              <a:rPr lang="en-US" altLang="zh-CN" b="1">
                <a:solidFill>
                  <a:schemeClr val="tx1"/>
                </a:solidFill>
              </a:rPr>
              <a:t>aggregate the bandwidth</a:t>
            </a:r>
            <a:r>
              <a:rPr lang="en-US" altLang="zh-CN"/>
              <a:t> of multiple interfaces or </a:t>
            </a:r>
            <a:r>
              <a:rPr lang="en-US" altLang="zh-CN" b="1">
                <a:solidFill>
                  <a:schemeClr val="tx1"/>
                </a:solidFill>
              </a:rPr>
              <a:t>prefer the one</a:t>
            </a:r>
            <a:r>
              <a:rPr lang="en-US" altLang="zh-CN"/>
              <a:t> with the </a:t>
            </a:r>
            <a:r>
              <a:rPr lang="en-US" altLang="zh-CN">
                <a:solidFill>
                  <a:schemeClr val="tx1"/>
                </a:solidFill>
              </a:rPr>
              <a:t>lowest latency</a:t>
            </a:r>
            <a:r>
              <a:rPr lang="en-US" altLang="zh-CN"/>
              <a:t>. It also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allows a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fail-over</a:t>
            </a:r>
            <a:r>
              <a:rPr lang="en-US" altLang="zh-CN"/>
              <a:t> if one path is down, and the traffic is seamlessly reinjected on other paths.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Introduced in Linux kernel v5.6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How to use it?</a:t>
            </a:r>
            <a:endParaRPr lang="en-US" altLang="zh-CN"/>
          </a:p>
          <a:p>
            <a:pPr marL="742950" lvl="1" indent="-285750">
              <a:buFont typeface="Arial" panose="02080604020202020204" pitchFamily="34" charset="0"/>
              <a:buChar char="–"/>
            </a:pPr>
            <a:r>
              <a:rPr lang="en-US" altLang="zh-CN" sz="1600"/>
              <a:t>Address config: </a:t>
            </a:r>
            <a:r>
              <a:rPr lang="en-US" altLang="zh-CN" sz="1600" b="1"/>
              <a:t>ip mptcp</a:t>
            </a:r>
            <a:r>
              <a:rPr lang="en-US" altLang="zh-CN" sz="1600"/>
              <a:t> (manual); </a:t>
            </a:r>
            <a:r>
              <a:rPr lang="en-US" altLang="zh-CN" sz="1600" b="1"/>
              <a:t>mptcpd</a:t>
            </a:r>
            <a:r>
              <a:rPr lang="en-US" altLang="zh-CN" sz="1600"/>
              <a:t> daemon or NetworkManager (automatic).</a:t>
            </a:r>
            <a:endParaRPr lang="en-US" altLang="zh-CN" sz="1600"/>
          </a:p>
          <a:p>
            <a:pPr marL="742950" lvl="1" indent="-285750">
              <a:buFont typeface="Arial" panose="02080604020202020204" pitchFamily="34" charset="0"/>
              <a:buChar char="–"/>
            </a:pPr>
            <a:r>
              <a:rPr lang="en-US" altLang="zh-CN" sz="1600"/>
              <a:t>Create socket: socket(AF_INET, SOCK_STREAM, </a:t>
            </a:r>
            <a:r>
              <a:rPr lang="en-US" altLang="zh-CN" sz="1600" b="1"/>
              <a:t>IPPROTO_MPTCP</a:t>
            </a:r>
            <a:r>
              <a:rPr lang="en-US" altLang="zh-CN" sz="1600"/>
              <a:t>) or force with </a:t>
            </a:r>
            <a:r>
              <a:rPr lang="en-US" altLang="zh-CN" sz="1600" b="1"/>
              <a:t>BPF</a:t>
            </a:r>
            <a:r>
              <a:rPr lang="en-US" altLang="zh-CN" sz="1600"/>
              <a:t>.</a:t>
            </a:r>
            <a:endParaRPr lang="en-US" altLang="zh-CN" sz="1600"/>
          </a:p>
          <a:p>
            <a:pPr marL="742950" lvl="1" indent="-285750">
              <a:buFont typeface="Arial" panose="02080604020202020204" pitchFamily="34" charset="0"/>
              <a:buChar char="–"/>
            </a:pPr>
            <a:r>
              <a:rPr lang="en-US" altLang="zh-CN" sz="1600"/>
              <a:t>Use: same as TCP sockets; multiple TCP </a:t>
            </a:r>
            <a:r>
              <a:rPr lang="en-US" altLang="zh-CN" sz="1600" b="1"/>
              <a:t>subflows</a:t>
            </a:r>
            <a:r>
              <a:rPr lang="en-US" altLang="zh-CN" sz="1600"/>
              <a:t> are created in kernel space to send and receive data.</a:t>
            </a:r>
            <a:endParaRPr lang="en-US" altLang="zh-CN" sz="1600"/>
          </a:p>
          <a:p>
            <a:pPr marL="742950" lvl="1" indent="-285750">
              <a:buFont typeface="Arial" panose="02080604020202020204" pitchFamily="34" charset="0"/>
              <a:buChar char="–"/>
            </a:pPr>
            <a:endParaRPr lang="en-US" altLang="zh-CN"/>
          </a:p>
          <a:p>
            <a:pPr marL="285750" lvl="0" indent="-285750">
              <a:buFont typeface="Arial" panose="02080604020202020204" pitchFamily="34" charset="0"/>
              <a:buChar char="•"/>
            </a:pPr>
            <a:r>
              <a:rPr lang="en-US" altLang="zh-CN"/>
              <a:t>For more details, please visit the project website: </a:t>
            </a:r>
            <a:r>
              <a:rPr lang="en-US" altLang="zh-CN">
                <a:solidFill>
                  <a:schemeClr val="tx1"/>
                </a:solidFill>
              </a:rPr>
              <a:t>https://www.mptcp.dev</a:t>
            </a:r>
            <a:endParaRPr lang="en-US" altLang="zh-CN"/>
          </a:p>
          <a:p>
            <a:pPr lvl="0" indent="0">
              <a:buFont typeface="Arial" panose="02080604020202020204" pitchFamily="34" charset="0"/>
              <a:buNone/>
            </a:pPr>
            <a:endParaRPr lang="en-US" altLang="zh-CN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 i="0" dirty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Motivation</a:t>
            </a:r>
            <a:endParaRPr lang="en-US" sz="1100" dirty="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5800" y="1371600"/>
            <a:ext cx="1046797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>
              <a:buFont typeface="Arial" panose="02080604020202020204" pitchFamily="34" charset="0"/>
              <a:buChar char="•"/>
            </a:pPr>
            <a:r>
              <a:rPr lang="en-US" altLang="zh-CN" sz="2400" b="1" dirty="0"/>
              <a:t>Provide a kernel-space use case for MPTCP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-&gt; Drives missing MPTCP features forward: .</a:t>
            </a:r>
            <a:r>
              <a:rPr lang="en-US" altLang="zh-CN" sz="2000" dirty="0" err="1"/>
              <a:t>read_sock</a:t>
            </a:r>
            <a:r>
              <a:rPr lang="en-US" altLang="zh-CN" sz="2000" dirty="0"/>
              <a:t>, KTLS, etc.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342900" lvl="0" indent="-342900">
              <a:buFont typeface="Arial" panose="02080604020202020204" pitchFamily="34" charset="0"/>
              <a:buChar char="•"/>
            </a:pPr>
            <a:r>
              <a:rPr lang="en-US" altLang="zh-CN" sz="2400" b="1" dirty="0"/>
              <a:t>Achieve multi‑fold bandwidth aggregation in multi‑NIC environments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-&gt; Break the single-device bottleneck of </a:t>
            </a:r>
            <a:r>
              <a:rPr lang="en-US" altLang="zh-CN" sz="2000" dirty="0" err="1"/>
              <a:t>NVMe</a:t>
            </a:r>
            <a:r>
              <a:rPr lang="en-US" altLang="zh-CN" sz="2000" dirty="0"/>
              <a:t> TCP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342900" lvl="0" indent="-342900">
              <a:buFont typeface="Arial" panose="02080604020202020204" pitchFamily="34" charset="0"/>
              <a:buChar char="•"/>
            </a:pPr>
            <a:r>
              <a:rPr lang="en-US" altLang="zh-CN" sz="2400" b="1" dirty="0"/>
              <a:t>Improve reliability with transparent fail-over across network paths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-&gt; Without adding complexity to </a:t>
            </a:r>
            <a:r>
              <a:rPr lang="en-US" altLang="zh-CN" sz="2000" dirty="0" err="1"/>
              <a:t>NVMe</a:t>
            </a:r>
            <a:r>
              <a:rPr lang="en-US" altLang="zh-CN" sz="2000" dirty="0"/>
              <a:t> layer</a:t>
            </a:r>
            <a:endParaRPr lang="en-US" altLang="zh-CN" sz="2000" dirty="0"/>
          </a:p>
          <a:p>
            <a:pPr lvl="1"/>
            <a:endParaRPr lang="en-US" altLang="zh-CN" sz="2000" dirty="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5/15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Status</a:t>
            </a:r>
            <a:endParaRPr lang="en-US" sz="1100" dirty="0"/>
          </a:p>
        </p:txBody>
      </p:sp>
      <p:sp>
        <p:nvSpPr>
          <p:cNvPr id="3" name="TextBox 8"/>
          <p:cNvSpPr txBox="1"/>
          <p:nvPr/>
        </p:nvSpPr>
        <p:spPr>
          <a:xfrm>
            <a:off x="628650" y="1143000"/>
            <a:ext cx="10777855" cy="241808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46800" rtlCol="0" anchor="ctr" anchorCtr="0"/>
          <a:lstStyle/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The modifications in the NVMe subsystem are </a:t>
            </a:r>
            <a:r>
              <a:rPr lang="en-US" altLang="zh-CN" sz="2000">
                <a:solidFill>
                  <a:schemeClr val="tx1">
                    <a:alpha val="100000"/>
                  </a:scheme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minimal, m</a:t>
            </a: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ost of the changes are on the MPTCP side.</a:t>
            </a: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algn="l">
              <a:lnSpc>
                <a:spcPct val="120000"/>
              </a:lnSpc>
              <a:defRPr/>
            </a:pPr>
            <a:endParaRPr lang="en-US" altLang="zh-CN" sz="2000" b="1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Here are the patchsets:</a:t>
            </a: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indent="457200" algn="l">
              <a:lnSpc>
                <a:spcPct val="120000"/>
              </a:lnSpc>
              <a:defRPr/>
            </a:pP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algn="l">
              <a:lnSpc>
                <a:spcPct val="120000"/>
              </a:lnSpc>
              <a:defRPr/>
            </a:pP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2819400"/>
            <a:ext cx="889317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/>
              <a:t>mptcp: implement .read_sock		</a:t>
            </a:r>
            <a:r>
              <a:rPr lang="en-US" altLang="zh-CN" sz="2000" b="1"/>
              <a:t>(Mainlined)</a:t>
            </a:r>
            <a:endParaRPr lang="en-US" altLang="zh-CN" sz="20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</a:rPr>
              <a:t>NVMe over MPTCP			(Under Review)</a:t>
            </a:r>
            <a:endParaRPr lang="en-US" altLang="zh-CN" sz="2000" b="1">
              <a:solidFill>
                <a:schemeClr val="tx1"/>
              </a:solidFill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/>
              <a:t>MPTCP KTLS support		</a:t>
            </a:r>
            <a:r>
              <a:rPr lang="en-US" altLang="zh-CN" sz="2000" b="1"/>
              <a:t>(Under Review)</a:t>
            </a: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>
                <a:sym typeface="+mn-ea"/>
              </a:rPr>
              <a:t>Enable KTLS for NVMe MPTCP	</a:t>
            </a:r>
            <a:r>
              <a:rPr lang="en-US" altLang="zh-CN" sz="2000" b="1">
                <a:sym typeface="+mn-ea"/>
              </a:rPr>
              <a:t>(Under development)</a:t>
            </a:r>
            <a:endParaRPr lang="en-US" altLang="zh-CN" sz="2000" b="1">
              <a:solidFill>
                <a:schemeClr val="tx1"/>
              </a:solidFill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>
                <a:sym typeface="+mn-ea"/>
              </a:rPr>
              <a:t>User space changes			</a:t>
            </a:r>
            <a:r>
              <a:rPr lang="en-US" altLang="zh-CN" sz="2000" b="1">
                <a:sym typeface="+mn-ea"/>
              </a:rPr>
              <a:t>(Under development)</a:t>
            </a: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>
                <a:sym typeface="+mn-ea"/>
              </a:rPr>
              <a:t>Fixes for MPTCP corner cases	</a:t>
            </a:r>
            <a:r>
              <a:rPr lang="en-US" altLang="zh-CN" sz="2000" b="1">
                <a:sym typeface="+mn-ea"/>
              </a:rPr>
              <a:t>(Under Review)</a:t>
            </a: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 b="1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6/15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628650" y="1524000"/>
            <a:ext cx="10127615" cy="2895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46800" rtlCol="0" anchor="ctr" anchorCtr="0"/>
          <a:lstStyle/>
          <a:p>
            <a:pPr indent="0" algn="l" fontAlgn="auto">
              <a:lnSpc>
                <a:spcPct val="120000"/>
              </a:lnSpc>
              <a:defRPr/>
            </a:pPr>
            <a:endParaRPr lang="en-US" altLang="zh-CN" sz="18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>
              <a:defRPr/>
            </a:pPr>
            <a:r>
              <a:rPr lang="en-US" sz="2800" b="1" dirty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Performance Evaluation</a:t>
            </a:r>
            <a:r>
              <a:rPr lang="en-US" sz="2800" b="1" i="0" dirty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 (NVMe TCP)</a:t>
            </a:r>
            <a:endParaRPr lang="en-US" altLang="zh-CN" sz="1400" b="1" dirty="0">
              <a:solidFill>
                <a:schemeClr val="tx1"/>
              </a:solidFill>
              <a:ea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1981200"/>
            <a:ext cx="6096000" cy="1464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8650" y="3810000"/>
            <a:ext cx="8895715" cy="2362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000"/>
              <a:t>Each network device is limited to a </a:t>
            </a:r>
            <a:r>
              <a:rPr lang="en-US" altLang="zh-CN" sz="2000">
                <a:solidFill>
                  <a:schemeClr val="tx1"/>
                </a:solidFill>
              </a:rPr>
              <a:t>speed of</a:t>
            </a:r>
            <a:r>
              <a:rPr lang="en-US" altLang="zh-CN" sz="2000" b="1">
                <a:solidFill>
                  <a:srgbClr val="FF0000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125 MB/s</a:t>
            </a:r>
            <a:r>
              <a:rPr lang="en-US" altLang="zh-CN" sz="2000">
                <a:solidFill>
                  <a:schemeClr val="tx1"/>
                </a:solidFill>
              </a:rPr>
              <a:t> (1000 mbit/s)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 ./mptcp_nvme.sh </a:t>
            </a:r>
            <a:r>
              <a:rPr lang="en-US" altLang="zh-CN" sz="2000" b="1">
                <a:solidFill>
                  <a:schemeClr val="tx1"/>
                </a:solidFill>
              </a:rPr>
              <a:t>tcp</a:t>
            </a:r>
            <a:r>
              <a:rPr lang="en-US" altLang="zh-CN" sz="2000"/>
              <a:t> numa tls</a:t>
            </a:r>
            <a:endParaRPr lang="en-US" altLang="zh-CN" sz="2000"/>
          </a:p>
          <a:p>
            <a:r>
              <a:rPr lang="en-US" altLang="zh-CN" sz="2000"/>
              <a:t>  READ: bw=</a:t>
            </a:r>
            <a:r>
              <a:rPr lang="en-US" altLang="zh-CN" sz="2000">
                <a:solidFill>
                  <a:schemeClr val="tx1"/>
                </a:solidFill>
              </a:rPr>
              <a:t>112MiB/s (</a:t>
            </a:r>
            <a:r>
              <a:rPr lang="en-US" altLang="zh-CN" sz="2000" b="1">
                <a:solidFill>
                  <a:schemeClr val="tx1"/>
                </a:solidFill>
              </a:rPr>
              <a:t>118MB/s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r>
              <a:rPr lang="en-US" altLang="zh-CN" sz="2000"/>
              <a:t>, 112MiB/s-112MiB/s (118MB/s-118MB/s),</a:t>
            </a:r>
            <a:endParaRPr lang="en-US" altLang="zh-CN" sz="2000"/>
          </a:p>
          <a:p>
            <a:r>
              <a:rPr lang="en-US" altLang="zh-CN" sz="2000"/>
              <a:t>                io=1123MiB (1177MB), run=10018-10018msec</a:t>
            </a:r>
            <a:endParaRPr lang="en-US" altLang="zh-CN" sz="2000"/>
          </a:p>
          <a:p>
            <a:r>
              <a:rPr lang="en-US" altLang="zh-CN" sz="2000"/>
              <a:t>  WRITE: bw=</a:t>
            </a:r>
            <a:r>
              <a:rPr lang="en-US" altLang="zh-CN" sz="2000">
                <a:solidFill>
                  <a:schemeClr val="tx1"/>
                </a:solidFill>
              </a:rPr>
              <a:t>112MiB/s (</a:t>
            </a:r>
            <a:r>
              <a:rPr lang="en-US" altLang="zh-CN" sz="2000" b="1">
                <a:solidFill>
                  <a:schemeClr val="tx1"/>
                </a:solidFill>
              </a:rPr>
              <a:t>117MB/s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r>
              <a:rPr lang="en-US" altLang="zh-CN" sz="2000"/>
              <a:t>, 112MiB/s-112MiB/s (117MB/s-117MB/s),</a:t>
            </a:r>
            <a:endParaRPr lang="en-US" altLang="zh-CN" sz="2000"/>
          </a:p>
          <a:p>
            <a:r>
              <a:rPr lang="en-US" altLang="zh-CN" sz="2000"/>
              <a:t>                io=1118MiB (1173MB), run=10018-10018msec</a:t>
            </a:r>
            <a:endParaRPr lang="en-US" altLang="zh-CN" sz="2000"/>
          </a:p>
          <a:p>
            <a:endParaRPr lang="en-US" altLang="zh-CN" sz="200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7/15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8"/>
          <p:cNvSpPr txBox="1"/>
          <p:nvPr/>
        </p:nvSpPr>
        <p:spPr>
          <a:xfrm>
            <a:off x="628650" y="1028700"/>
            <a:ext cx="10777855" cy="37287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46800" rtlCol="0" anchor="ctr" anchorCtr="0"/>
          <a:lstStyle/>
          <a:p>
            <a:pPr indent="0" algn="l" fontAlgn="auto">
              <a:lnSpc>
                <a:spcPct val="120000"/>
              </a:lnSpc>
              <a:defRPr/>
            </a:pP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This demo is the selftest script for NVMe over MPTCP</a:t>
            </a: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indent="0" algn="l" fontAlgn="auto">
              <a:lnSpc>
                <a:spcPct val="120000"/>
              </a:lnSpc>
              <a:defRPr/>
            </a:pP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ym typeface="+mn-ea"/>
              </a:rPr>
              <a:t># ns1 (target)  ns2 (host)</a:t>
            </a:r>
            <a:endParaRPr lang="en-US" altLang="zh-CN" sz="2000"/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ym typeface="+mn-ea"/>
              </a:rPr>
              <a:t># 10.1.1.1       10.1.1.2</a:t>
            </a:r>
            <a:endParaRPr lang="en-US" altLang="zh-CN" sz="2000"/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ym typeface="+mn-ea"/>
              </a:rPr>
              <a:t># 10.1.2.1       10.1.2.2</a:t>
            </a:r>
            <a:endParaRPr lang="en-US" altLang="zh-CN" sz="2000"/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ym typeface="+mn-ea"/>
              </a:rPr>
              <a:t># 10.1.3.1       10.1.3.2</a:t>
            </a:r>
            <a:endParaRPr lang="en-US" altLang="zh-CN" sz="2000"/>
          </a:p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ym typeface="+mn-ea"/>
              </a:rPr>
              <a:t># 10.1.4.1       10.1.4.2</a:t>
            </a:r>
            <a:endParaRPr lang="en-US" altLang="zh-CN" sz="2000"/>
          </a:p>
          <a:p>
            <a:pPr indent="0" algn="l" fontAlgn="auto">
              <a:lnSpc>
                <a:spcPct val="120000"/>
              </a:lnSpc>
              <a:defRPr/>
            </a:pPr>
            <a:endParaRPr lang="zh-CN" altLang="en-US" sz="2000"/>
          </a:p>
          <a:p>
            <a:pPr indent="0" algn="l" fontAlgn="auto">
              <a:lnSpc>
                <a:spcPct val="120000"/>
              </a:lnSpc>
              <a:defRPr/>
            </a:pPr>
            <a:endParaRPr lang="zh-CN" altLang="en-US" sz="2000"/>
          </a:p>
          <a:p>
            <a:pPr indent="0" algn="l" fontAlgn="auto">
              <a:lnSpc>
                <a:spcPct val="120000"/>
              </a:lnSpc>
              <a:defRPr/>
            </a:pPr>
            <a:endParaRPr lang="zh-CN" altLang="en-US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28650" y="1295400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/>
              <a:t>target:</a:t>
            </a:r>
            <a:endParaRPr lang="en-US" altLang="zh-CN" sz="2000"/>
          </a:p>
          <a:p>
            <a:r>
              <a:rPr lang="en-US" altLang="zh-CN" sz="2000"/>
              <a:t># ip mptcp endpoint add 10.1.2.1 signal</a:t>
            </a:r>
            <a:endParaRPr lang="en-US" altLang="zh-CN" sz="2000"/>
          </a:p>
          <a:p>
            <a:r>
              <a:rPr lang="en-US" altLang="zh-CN" sz="2000"/>
              <a:t># ip mptcp endpoint add 10.1.3.1 signal</a:t>
            </a:r>
            <a:endParaRPr lang="en-US" altLang="zh-CN" sz="2000"/>
          </a:p>
          <a:p>
            <a:r>
              <a:rPr lang="en-US" altLang="zh-CN" sz="2000"/>
              <a:t># ip mptcp endpoint add 10.1.4.1 signal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host:</a:t>
            </a:r>
            <a:endParaRPr lang="en-US" altLang="zh-CN" sz="2000"/>
          </a:p>
          <a:p>
            <a:r>
              <a:rPr lang="en-US" altLang="zh-CN" sz="2000"/>
              <a:t># ip mptcp endpoint add 10.1.2.2 subflow</a:t>
            </a:r>
            <a:endParaRPr lang="en-US" altLang="zh-CN" sz="2000"/>
          </a:p>
          <a:p>
            <a:r>
              <a:rPr lang="en-US" altLang="zh-CN" sz="2000"/>
              <a:t># ip mptcp endpoint add 10.1.3.2 subflow</a:t>
            </a:r>
            <a:endParaRPr lang="en-US" altLang="zh-CN" sz="2000"/>
          </a:p>
          <a:p>
            <a:r>
              <a:rPr lang="en-US" altLang="zh-CN" sz="2000"/>
              <a:t># ip mptcp endpoint add 10.1.4.2 subflow</a:t>
            </a:r>
            <a:endParaRPr lang="en-US" altLang="zh-CN" sz="2000"/>
          </a:p>
          <a:p>
            <a:endParaRPr lang="en-US" altLang="zh-CN" sz="2000"/>
          </a:p>
        </p:txBody>
      </p:sp>
      <p:sp>
        <p:nvSpPr>
          <p:cNvPr id="32" name="TextBox 3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>
              <a:defRPr/>
            </a:pPr>
            <a:r>
              <a:rPr lang="en-US" sz="2800" b="1" dirty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Performance Evaluation</a:t>
            </a:r>
            <a:r>
              <a:rPr lang="en-US" sz="2800" b="1" i="0" dirty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 (NVMe MPTCP)</a:t>
            </a:r>
            <a:endParaRPr lang="en-US" sz="1400" dirty="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8650" y="4419600"/>
            <a:ext cx="117722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/>
              <a:t># ./mptcp_nvme.sh </a:t>
            </a:r>
            <a:r>
              <a:rPr lang="en-US" altLang="zh-CN" sz="2000" b="1">
                <a:solidFill>
                  <a:schemeClr val="tx1"/>
                </a:solidFill>
              </a:rPr>
              <a:t>mptcp</a:t>
            </a:r>
            <a:r>
              <a:rPr lang="en-US" altLang="zh-CN" sz="2000"/>
              <a:t> numa tls</a:t>
            </a:r>
            <a:endParaRPr lang="en-US" altLang="zh-CN" sz="2000"/>
          </a:p>
          <a:p>
            <a:r>
              <a:rPr lang="en-US" altLang="zh-CN" sz="2000"/>
              <a:t>  READ: bw=</a:t>
            </a:r>
            <a:r>
              <a:rPr lang="en-US" altLang="zh-CN" sz="2000">
                <a:solidFill>
                  <a:schemeClr val="tx1"/>
                </a:solidFill>
              </a:rPr>
              <a:t>427MiB/s (</a:t>
            </a:r>
            <a:r>
              <a:rPr lang="en-US" altLang="zh-CN" sz="2000" b="1">
                <a:solidFill>
                  <a:schemeClr val="tx1"/>
                </a:solidFill>
              </a:rPr>
              <a:t>448MB/s</a:t>
            </a:r>
            <a:r>
              <a:rPr lang="en-US" altLang="zh-CN" sz="2000">
                <a:solidFill>
                  <a:schemeClr val="tx1"/>
                </a:solidFill>
              </a:rPr>
              <a:t>)</a:t>
            </a:r>
            <a:r>
              <a:rPr lang="en-US" altLang="zh-CN" sz="2000"/>
              <a:t>, 427MiB/s-427MiB/s (448MB/s-448MB/s),</a:t>
            </a:r>
            <a:endParaRPr lang="en-US" altLang="zh-CN" sz="2000"/>
          </a:p>
          <a:p>
            <a:r>
              <a:rPr lang="en-US" altLang="zh-CN" sz="2000"/>
              <a:t>                io=4286MiB (4494MB), run=10039-10039msec</a:t>
            </a:r>
            <a:endParaRPr lang="en-US" altLang="zh-CN" sz="2000"/>
          </a:p>
          <a:p>
            <a:r>
              <a:rPr lang="en-US" altLang="zh-CN" sz="2000"/>
              <a:t>  WRITE: bw=</a:t>
            </a:r>
            <a:r>
              <a:rPr lang="en-US" altLang="zh-CN" sz="2000">
                <a:solidFill>
                  <a:schemeClr val="tx1"/>
                </a:solidFill>
              </a:rPr>
              <a:t>387MiB/s (</a:t>
            </a:r>
            <a:r>
              <a:rPr lang="en-US" altLang="zh-CN" sz="2000" b="1">
                <a:solidFill>
                  <a:schemeClr val="tx1"/>
                </a:solidFill>
              </a:rPr>
              <a:t>406MB/s</a:t>
            </a:r>
            <a:r>
              <a:rPr lang="en-US" altLang="zh-CN" sz="2000">
                <a:solidFill>
                  <a:schemeClr val="tx1"/>
                </a:solidFill>
              </a:rPr>
              <a:t>),</a:t>
            </a:r>
            <a:r>
              <a:rPr lang="en-US" altLang="zh-CN" sz="2000"/>
              <a:t> 387MiB/s-387MiB/s (406MB/s-406MB/s),</a:t>
            </a:r>
            <a:endParaRPr lang="en-US" altLang="zh-CN" sz="2000"/>
          </a:p>
          <a:p>
            <a:r>
              <a:rPr lang="en-US" altLang="zh-CN" sz="2000"/>
              <a:t>                io=3885MiB (4073MB), run=10043-10043msec</a:t>
            </a:r>
            <a:endParaRPr lang="en-US" altLang="zh-CN" sz="2000"/>
          </a:p>
          <a:p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In a four-network-device environment, MPTCP achieves a</a:t>
            </a:r>
            <a:r>
              <a:rPr lang="en-US" altLang="zh-CN" sz="2000" b="1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 four times</a:t>
            </a: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 performance improvement.</a:t>
            </a: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endParaRPr lang="en-US" altLang="zh-CN" sz="2000"/>
          </a:p>
          <a:p>
            <a:endParaRPr lang="en-US" altLang="zh-CN" sz="200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8/15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7"/>
          <p:cNvSpPr txBox="1"/>
          <p:nvPr/>
        </p:nvSpPr>
        <p:spPr>
          <a:xfrm>
            <a:off x="6629400" y="1977390"/>
            <a:ext cx="3195320" cy="734636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Host Side</a:t>
            </a:r>
            <a:endParaRPr lang="en-US" sz="2000" b="1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628650" y="1981200"/>
            <a:ext cx="6010910" cy="3009900"/>
            <a:chOff x="660400" y="2212937"/>
            <a:chExt cx="6010910" cy="3009900"/>
          </a:xfrm>
        </p:grpSpPr>
        <p:sp>
          <p:nvSpPr>
            <p:cNvPr id="7" name="TextBox 7"/>
            <p:cNvSpPr txBox="1"/>
            <p:nvPr/>
          </p:nvSpPr>
          <p:spPr>
            <a:xfrm>
              <a:off x="660400" y="2212937"/>
              <a:ext cx="3195320" cy="734636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2000" b="1">
                  <a:solidFill>
                    <a:srgbClr val="000000">
                      <a:alpha val="100000"/>
                    </a:srgbClr>
                  </a:solidFill>
                  <a:latin typeface="Arial" panose="02080604020202020204" pitchFamily="34" charset="0"/>
                  <a:ea typeface="Arial" panose="02080604020202020204" pitchFamily="34" charset="0"/>
                  <a:cs typeface="Arial" panose="02080604020202020204" pitchFamily="34" charset="0"/>
                  <a:sym typeface="Arial" panose="02080604020202020204" pitchFamily="34" charset="0"/>
                </a:rPr>
                <a:t>Target Side</a:t>
              </a:r>
              <a:endParaRPr lang="en-US" sz="2000" b="1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0400" y="3303232"/>
              <a:ext cx="6010910" cy="191960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ret = sock_create(port-&gt;addr.ss_family, SOCK_STREAM,</a:t>
              </a:r>
              <a:endParaRPr lang="en-US" altLang="zh-CN" sz="1400"/>
            </a:p>
            <a:p>
              <a:pPr indent="0" algn="l">
                <a:lnSpc>
                  <a:spcPct val="120000"/>
                </a:lnSpc>
                <a:buFont typeface="Arial" panose="02080604020202020204" pitchFamily="34" charset="0"/>
                <a:buNone/>
                <a:defRPr/>
              </a:pPr>
              <a:r>
                <a:rPr lang="en-US" altLang="zh-CN" sz="1400"/>
                <a:t>                                </a:t>
              </a:r>
              <a:r>
                <a:rPr lang="en-US" altLang="zh-CN" sz="1400" b="1">
                  <a:solidFill>
                    <a:schemeClr val="tx1"/>
                  </a:solidFill>
                </a:rPr>
                <a:t>IPPROTO_TCP</a:t>
              </a:r>
              <a:r>
                <a:rPr lang="en-US" altLang="zh-CN" sz="1400"/>
                <a:t>, &amp;port-&gt;sock);</a:t>
              </a:r>
              <a:endParaRPr lang="en-US" altLang="zh-CN" sz="1400"/>
            </a:p>
            <a:p>
              <a:pPr indent="0" algn="l">
                <a:lnSpc>
                  <a:spcPct val="120000"/>
                </a:lnSpc>
                <a:buFont typeface="Arial" panose="02080604020202020204" pitchFamily="34" charset="0"/>
                <a:buNone/>
                <a:defRPr/>
              </a:pPr>
              <a:endParaRPr lang="en-US" altLang="zh-CN" sz="1400"/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 tcp_sock_set_nodelay(port-&gt;sock-&gt;sk);   </a:t>
              </a:r>
              <a:r>
                <a:rPr lang="en-US" altLang="zh-CN" sz="1400">
                  <a:solidFill>
                    <a:schemeClr val="tx1"/>
                  </a:solidFill>
                </a:rPr>
                <a:t>(</a:t>
              </a:r>
              <a:r>
                <a:rPr lang="en-US" altLang="zh-CN" sz="1400" b="1">
                  <a:solidFill>
                    <a:schemeClr val="tx1"/>
                  </a:solidFill>
                </a:rPr>
                <a:t>list_add corruption</a:t>
              </a:r>
              <a:r>
                <a:rPr lang="en-US" altLang="zh-CN" sz="1400">
                  <a:solidFill>
                    <a:schemeClr val="tx1"/>
                  </a:solidFill>
                </a:rPr>
                <a:t>)</a:t>
              </a:r>
              <a:endParaRPr lang="en-US" altLang="zh-CN" sz="1400">
                <a:solidFill>
                  <a:srgbClr val="FF0000"/>
                </a:solidFill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 sock_set_reuseaddr(port-&gt;sock-&gt;sk);      </a:t>
              </a:r>
              <a:r>
                <a:rPr lang="en-US" altLang="zh-CN" sz="1400">
                  <a:solidFill>
                    <a:schemeClr val="tx1"/>
                  </a:solidFill>
                </a:rPr>
                <a:t>(</a:t>
              </a:r>
              <a:r>
                <a:rPr lang="en-US" altLang="zh-CN" sz="1400" b="1">
                  <a:solidFill>
                    <a:schemeClr val="tx1"/>
                  </a:solidFill>
                </a:rPr>
                <a:t>Address already in use</a:t>
              </a:r>
              <a:r>
                <a:rPr lang="en-US" altLang="zh-CN" sz="1400">
                  <a:solidFill>
                    <a:schemeClr val="tx1"/>
                  </a:solidFill>
                </a:rPr>
                <a:t>)</a:t>
              </a:r>
              <a:endParaRPr lang="en-US" altLang="zh-CN" sz="1400">
                <a:solidFill>
                  <a:srgbClr val="FF0000"/>
                </a:solidFill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 sock_set_priority(port-&gt;sock-&gt;sk, so_priority);</a:t>
              </a:r>
              <a:endParaRPr lang="en-US" altLang="zh-CN" sz="1400"/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 sock_no_linger(sock-&gt;sk);               </a:t>
              </a:r>
              <a:endParaRPr lang="en-US" altLang="zh-CN" sz="1400"/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r>
                <a:rPr lang="en-US" altLang="zh-CN" sz="1400"/>
                <a:t> ip_sock_set_tos(sock-&gt;sk, inet-&gt;rcv_tos);</a:t>
              </a:r>
              <a:endParaRPr lang="en-US" altLang="zh-CN" sz="1400"/>
            </a:p>
            <a:p>
              <a:pPr marL="171450" indent="-171450" algn="l">
                <a:lnSpc>
                  <a:spcPct val="120000"/>
                </a:lnSpc>
                <a:buFont typeface="Arial" panose="02080604020202020204" pitchFamily="34" charset="0"/>
                <a:buChar char="•"/>
                <a:defRPr/>
              </a:pPr>
              <a:endParaRPr lang="en-US" altLang="zh-CN" sz="14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25590" y="3071495"/>
            <a:ext cx="5257800" cy="1919605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ret = sock_create_kern(current-&gt;nsproxy-&gt;net_ns,</a:t>
            </a:r>
            <a:endParaRPr lang="en-US" altLang="zh-CN" sz="1400"/>
          </a:p>
          <a:p>
            <a:pPr indent="0" algn="l">
              <a:lnSpc>
                <a:spcPct val="120000"/>
              </a:lnSpc>
              <a:buFont typeface="Arial" panose="02080604020202020204" pitchFamily="34" charset="0"/>
              <a:buNone/>
              <a:defRPr/>
            </a:pPr>
            <a:r>
              <a:rPr lang="en-US" altLang="zh-CN" sz="1400"/>
              <a:t> 	                    ctrl-&gt;addr.ss_family, SOCK_STREAM,                                                                	                    </a:t>
            </a:r>
            <a:r>
              <a:rPr lang="en-US" altLang="zh-CN" sz="1400" b="1">
                <a:solidFill>
                  <a:schemeClr val="tx1"/>
                </a:solidFill>
              </a:rPr>
              <a:t>IPPROTO_TCP</a:t>
            </a:r>
            <a:r>
              <a:rPr lang="en-US" altLang="zh-CN" sz="1400"/>
              <a:t>, &amp;queue-&gt;sock);</a:t>
            </a:r>
            <a:endParaRPr lang="en-US" altLang="zh-CN" sz="1400"/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tcp_sock_set_syncnt(queue-&gt;sock-&gt;sk, 1);</a:t>
            </a:r>
            <a:endParaRPr lang="en-US" altLang="zh-CN" sz="1400"/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tcp_sock_set_nodelay(queue-&gt;sock-&gt;sk);</a:t>
            </a:r>
            <a:endParaRPr lang="en-US" altLang="zh-CN" sz="1400"/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sock_no_linger(queue-&gt;sock-&gt;sk);           </a:t>
            </a:r>
            <a:r>
              <a:rPr lang="en-US" altLang="zh-CN" sz="1400">
                <a:solidFill>
                  <a:srgbClr val="FF0000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nvme disconnect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>
              <a:solidFill>
                <a:srgbClr val="FF0000"/>
              </a:solidFill>
            </a:endParaRPr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sock_set_priority(queue-&gt;sock-&gt;sk, so_priority); </a:t>
            </a:r>
            <a:endParaRPr lang="en-US" altLang="zh-CN" sz="1400"/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r>
              <a:rPr lang="en-US" altLang="zh-CN" sz="1400"/>
              <a:t>ip_sock_set_tos(queue-&gt;sock-&gt;sk, nctrl-&gt;opts-&gt;tos);</a:t>
            </a:r>
            <a:endParaRPr lang="en-US" altLang="zh-CN" sz="1400"/>
          </a:p>
          <a:p>
            <a:pPr marL="171450" indent="-171450" algn="l">
              <a:lnSpc>
                <a:spcPct val="120000"/>
              </a:lnSpc>
              <a:buFont typeface="Arial" panose="02080604020202020204" pitchFamily="34" charset="0"/>
              <a:buChar char="•"/>
              <a:defRPr/>
            </a:pPr>
            <a:endParaRPr lang="en-US" altLang="zh-CN" sz="1400"/>
          </a:p>
        </p:txBody>
      </p: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Implementation</a:t>
            </a:r>
            <a:endParaRPr lang="en-US" altLang="en-US" sz="1400" b="1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sp>
        <p:nvSpPr>
          <p:cNvPr id="3" name="TextBox 8"/>
          <p:cNvSpPr txBox="1"/>
          <p:nvPr/>
        </p:nvSpPr>
        <p:spPr>
          <a:xfrm>
            <a:off x="628650" y="990600"/>
            <a:ext cx="9583420" cy="887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6800" rIns="90000" bIns="46800" rtlCol="0" anchor="ctr" anchorCtr="0"/>
          <a:lstStyle/>
          <a:p>
            <a:pPr indent="0" algn="l" fontAlgn="auto">
              <a:lnSpc>
                <a:spcPct val="120000"/>
              </a:lnSpc>
              <a:defRPr/>
            </a:pPr>
            <a:r>
              <a:rPr lang="en-US" altLang="zh-CN" sz="200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TCP is currently hardcoded in a few places:</a:t>
            </a:r>
            <a:endParaRPr lang="en-US" altLang="zh-CN" sz="2000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pic>
        <p:nvPicPr>
          <p:cNvPr id="2" name="图片 1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9/15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53415" y="3145155"/>
            <a:ext cx="44170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Add a pointer to this structure in </a:t>
            </a:r>
            <a:r>
              <a:rPr lang="en-US" altLang="zh-CN" sz="1600" b="1">
                <a:solidFill>
                  <a:schemeClr val="tx1"/>
                </a:solidFill>
              </a:rPr>
              <a:t>tcp_port: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Target Implementation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1200" y="1304925"/>
            <a:ext cx="44113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ym typeface="+mn-ea"/>
              </a:rPr>
              <a:t>+static const struct nvmet_tcp_proto nvmet_mptcp_proto =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.protocol	= IPPROTO_MPTCP,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.set_reuseaddr	= mptcp_sock_set_reuseaddr,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.set_nodelay	= mptcp_sock_set_nodelay,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.set_priority	= mptcp_sock_set_priority,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.no_linger	= mptcp_sock_no_linger,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.set_tos	= mptcp_sock_set_tos,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.ops		= &amp;nvmet_mptcp_ops,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+};</a:t>
            </a:r>
            <a:endParaRPr lang="en-US" altLang="zh-CN" sz="1200"/>
          </a:p>
        </p:txBody>
      </p:sp>
      <p:sp>
        <p:nvSpPr>
          <p:cNvPr id="7" name="文本框 6"/>
          <p:cNvSpPr txBox="1"/>
          <p:nvPr/>
        </p:nvSpPr>
        <p:spPr>
          <a:xfrm>
            <a:off x="939165" y="3429000"/>
            <a:ext cx="315658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 struct nvmet_tcp_port {</a:t>
            </a:r>
            <a:endParaRPr lang="en-US" altLang="zh-CN" sz="1200"/>
          </a:p>
          <a:p>
            <a:r>
              <a:rPr lang="en-US" altLang="zh-CN" sz="1200"/>
              <a:t>+       struct rcu_head         rcu;</a:t>
            </a:r>
            <a:endParaRPr lang="en-US" altLang="zh-CN" sz="1200"/>
          </a:p>
          <a:p>
            <a:r>
              <a:rPr lang="en-US" altLang="zh-CN" sz="1200"/>
              <a:t>         ... ...</a:t>
            </a:r>
            <a:endParaRPr lang="en-US" altLang="zh-CN" sz="1200"/>
          </a:p>
          <a:p>
            <a:r>
              <a:rPr lang="en-US" altLang="zh-CN" sz="1200"/>
              <a:t>         void (*data_ready)(struct sock *);</a:t>
            </a:r>
            <a:endParaRPr lang="en-US" altLang="zh-CN" sz="1200"/>
          </a:p>
          <a:p>
            <a:r>
              <a:rPr lang="en-US" altLang="zh-CN" sz="1200"/>
              <a:t>+       const struct nvmet_tcp_proto *proto;</a:t>
            </a:r>
            <a:endParaRPr lang="en-US" altLang="zh-CN" sz="1200"/>
          </a:p>
          <a:p>
            <a:r>
              <a:rPr lang="en-US" altLang="zh-CN" sz="1200"/>
              <a:t> };</a:t>
            </a:r>
            <a:endParaRPr lang="en-US" altLang="zh-CN" sz="1200"/>
          </a:p>
          <a:p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939165" y="1305560"/>
            <a:ext cx="4324350" cy="193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200">
                <a:sym typeface="+mn-ea"/>
              </a:rPr>
              <a:t>+struct nvmet_tcp_proto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int                     protocol;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void (*set_reuseaddr)(struct sock *sk);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void (*set_nodelay)(struct sock *sk);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void (*set_priority)(struct sock *sk, u32 priority);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void (*no_linger)(struct sock *sk);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void (*set_tos)(struct sock *sk, int val);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const struct nvmet_fabrics_ops *ops;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+};</a:t>
            </a:r>
            <a:endParaRPr lang="en-US" altLang="zh-CN" sz="1200"/>
          </a:p>
          <a:p>
            <a:endParaRPr lang="en-US" altLang="zh-CN" sz="1200"/>
          </a:p>
          <a:p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634365" y="5598795"/>
            <a:ext cx="49974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        if (nport-&gt;disc_addr.trtype == NVMF_TRTYPE_TCP) {</a:t>
            </a:r>
            <a:endParaRPr lang="en-US" altLang="zh-CN" sz="1200"/>
          </a:p>
          <a:p>
            <a:r>
              <a:rPr lang="en-US" altLang="zh-CN" sz="1200"/>
              <a:t>                port-&gt;proto = &amp;nvmet_tcp_proto;</a:t>
            </a:r>
            <a:endParaRPr lang="en-US" altLang="zh-CN" sz="1200"/>
          </a:p>
          <a:p>
            <a:r>
              <a:rPr lang="en-US" altLang="zh-CN" sz="1200"/>
              <a:t>        } else if (nport-&gt;disc_addr.trtype == NVMF_TRTYPE_MPTCP) {</a:t>
            </a:r>
            <a:endParaRPr lang="en-US" altLang="zh-CN" sz="1200"/>
          </a:p>
          <a:p>
            <a:r>
              <a:rPr lang="en-US" altLang="zh-CN" sz="1200"/>
              <a:t>                port-&gt;proto = &amp;nvmet_mptcp_proto;</a:t>
            </a:r>
            <a:endParaRPr lang="en-US" altLang="zh-CN" sz="1200"/>
          </a:p>
          <a:p>
            <a:r>
              <a:rPr lang="en-US" altLang="zh-CN" sz="1200"/>
              <a:t>        }</a:t>
            </a:r>
            <a:endParaRPr lang="en-US" altLang="zh-CN" sz="1200"/>
          </a:p>
          <a:p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5791200" y="3480435"/>
            <a:ext cx="43313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+static const struct nvmet_fabrics_ops nvmet_mptcp_ops = {</a:t>
            </a:r>
            <a:endParaRPr lang="en-US" altLang="zh-CN" sz="1200"/>
          </a:p>
          <a:p>
            <a:r>
              <a:rPr lang="en-US" altLang="zh-CN" sz="1200"/>
              <a:t>+       .owner		= THIS_MODULE,</a:t>
            </a:r>
            <a:endParaRPr lang="en-US" altLang="zh-CN" sz="1200"/>
          </a:p>
          <a:p>
            <a:r>
              <a:rPr lang="en-US" altLang="zh-CN" sz="1200"/>
              <a:t>+       .type		= NVMF_TRTYPE_MPTCP,</a:t>
            </a:r>
            <a:endParaRPr lang="en-US" altLang="zh-CN" sz="1200"/>
          </a:p>
          <a:p>
            <a:r>
              <a:rPr lang="en-US" altLang="zh-CN" sz="1200"/>
              <a:t>+       .msdbd		= 1,</a:t>
            </a:r>
            <a:endParaRPr lang="en-US" altLang="zh-CN" sz="1200"/>
          </a:p>
          <a:p>
            <a:r>
              <a:rPr lang="en-US" altLang="zh-CN" sz="1200"/>
              <a:t>+       .add_port	= nvmet_tcp_add_port,</a:t>
            </a:r>
            <a:endParaRPr lang="en-US" altLang="zh-CN" sz="1200"/>
          </a:p>
          <a:p>
            <a:r>
              <a:rPr lang="en-US" altLang="zh-CN" sz="1200"/>
              <a:t>         ... ...</a:t>
            </a:r>
            <a:endParaRPr lang="en-US" altLang="zh-CN" sz="1200"/>
          </a:p>
          <a:p>
            <a:r>
              <a:rPr lang="en-US" altLang="zh-CN" sz="1200"/>
              <a:t>+};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653415" y="983615"/>
            <a:ext cx="41535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Define a</a:t>
            </a:r>
            <a:r>
              <a:rPr lang="en-US" altLang="zh-CN" sz="1600">
                <a:solidFill>
                  <a:srgbClr val="FF0000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target tcp_proto</a:t>
            </a:r>
            <a:r>
              <a:rPr lang="en-US" altLang="zh-CN" sz="1600"/>
              <a:t> structure:</a:t>
            </a: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5486400" y="990600"/>
            <a:ext cx="9065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Define </a:t>
            </a:r>
            <a:r>
              <a:rPr lang="en-US" altLang="zh-CN" sz="1600" b="1">
                <a:solidFill>
                  <a:schemeClr val="tx1"/>
                </a:solidFill>
              </a:rPr>
              <a:t>nvmet_tcp_proto / nvmet_mptcp_proto</a:t>
            </a:r>
            <a:r>
              <a:rPr lang="en-US" altLang="zh-CN" sz="1600"/>
              <a:t> for TCP / MPTCP: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5486400" y="3166745"/>
            <a:ext cx="82130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New </a:t>
            </a:r>
            <a:r>
              <a:rPr lang="en-US" altLang="zh-CN" sz="1600" b="1">
                <a:solidFill>
                  <a:schemeClr val="tx1"/>
                </a:solidFill>
              </a:rPr>
              <a:t>transport type and fabrics ops</a:t>
            </a:r>
            <a:r>
              <a:rPr lang="en-US" altLang="zh-CN" sz="1600"/>
              <a:t> for MPTCP: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5867400" y="51054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 sz="1200"/>
          </a:p>
          <a:p>
            <a:r>
              <a:rPr lang="en-US" altLang="zh-CN" sz="1200">
                <a:sym typeface="+mn-ea"/>
              </a:rPr>
              <a:t>        ret = sock_create(port-&gt;addr.ss_family,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                                   SOCK_STREAM,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                            port-&gt;proto-&gt;protocol,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                                   &amp;port-&gt;sock);</a:t>
            </a:r>
            <a:endParaRPr lang="en-US" altLang="zh-CN" sz="1200">
              <a:sym typeface="+mn-ea"/>
            </a:endParaRPr>
          </a:p>
          <a:p>
            <a:endParaRPr lang="en-US" altLang="zh-CN" sz="1200"/>
          </a:p>
          <a:p>
            <a:r>
              <a:rPr lang="en-US" altLang="zh-CN" sz="1200">
                <a:sym typeface="+mn-ea"/>
              </a:rPr>
              <a:t>+       port-&gt;proto-&gt;set_reuseaddr(port-&gt;sock-&gt;sk);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+       port-&gt;proto-&gt;set_nodelay(port-&gt;sock-&gt;sk);</a:t>
            </a:r>
            <a:endParaRPr lang="en-US" altLang="zh-CN" sz="12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3415" y="4800600"/>
            <a:ext cx="500443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Initialize the pointer to a different instance based on transport type (</a:t>
            </a:r>
            <a:r>
              <a:rPr lang="en-US" altLang="zh-CN" sz="1600" b="1">
                <a:solidFill>
                  <a:schemeClr val="tx1"/>
                </a:solidFill>
              </a:rPr>
              <a:t>TCP or MPTCP</a:t>
            </a:r>
            <a:r>
              <a:rPr lang="en-US" altLang="zh-CN" sz="1600"/>
              <a:t>) in </a:t>
            </a:r>
            <a:r>
              <a:rPr lang="en-US" altLang="zh-CN" sz="1600">
                <a:sym typeface="+mn-ea"/>
              </a:rPr>
              <a:t>add_port callback: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5562600" y="48006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Access the instance </a:t>
            </a:r>
            <a:r>
              <a:rPr lang="en-US" altLang="zh-CN" sz="1600" b="1">
                <a:solidFill>
                  <a:schemeClr val="tx1"/>
                </a:solidFill>
              </a:rPr>
              <a:t>through the pointer in tcp_port</a:t>
            </a:r>
            <a:r>
              <a:rPr lang="en-US" altLang="zh-CN" sz="1600"/>
              <a:t>, and use this instance afterwards:</a:t>
            </a:r>
            <a:endParaRPr lang="en-US" altLang="zh-CN" sz="160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10/15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0" y="98552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Define </a:t>
            </a:r>
            <a:r>
              <a:rPr lang="en-US" altLang="zh-CN" sz="1600">
                <a:solidFill>
                  <a:schemeClr val="tx1"/>
                </a:solidFill>
              </a:rPr>
              <a:t>a </a:t>
            </a:r>
            <a:r>
              <a:rPr lang="en-US" altLang="zh-CN" sz="1600" b="1">
                <a:solidFill>
                  <a:schemeClr val="tx1"/>
                </a:solidFill>
              </a:rPr>
              <a:t>host tcp_proto</a:t>
            </a:r>
            <a:r>
              <a:rPr lang="en-US" altLang="zh-CN" sz="1600"/>
              <a:t> structure:</a:t>
            </a:r>
            <a:endParaRPr lang="en-US" altLang="zh-CN" sz="1600"/>
          </a:p>
        </p:txBody>
      </p: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Host Implementation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1200" y="1304925"/>
            <a:ext cx="501840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+static const struct nvme_tcp_proto nvme_mptcp_proto = {</a:t>
            </a:r>
            <a:endParaRPr lang="en-US" altLang="zh-CN" sz="1200"/>
          </a:p>
          <a:p>
            <a:r>
              <a:rPr lang="en-US" altLang="zh-CN" sz="1200"/>
              <a:t>+       .protocol	= IPPROTO_MPTCP,</a:t>
            </a:r>
            <a:endParaRPr lang="en-US" altLang="zh-CN" sz="1200"/>
          </a:p>
          <a:p>
            <a:r>
              <a:rPr lang="en-US" altLang="zh-CN" sz="1200"/>
              <a:t>+       .set_syncnt	= mptcp_sock_set_syncnt,</a:t>
            </a:r>
            <a:endParaRPr lang="en-US" altLang="zh-CN" sz="1200"/>
          </a:p>
          <a:p>
            <a:r>
              <a:rPr lang="en-US" altLang="zh-CN" sz="1200"/>
              <a:t>+       .set_nodelay	= mptcp_sock_set_nodelay,</a:t>
            </a:r>
            <a:endParaRPr lang="en-US" altLang="zh-CN" sz="1200"/>
          </a:p>
          <a:p>
            <a:r>
              <a:rPr lang="en-US" altLang="zh-CN" sz="1200"/>
              <a:t>+       .no_linger	= mptcp_sock_no_linger,</a:t>
            </a:r>
            <a:endParaRPr lang="en-US" altLang="zh-CN" sz="1200"/>
          </a:p>
          <a:p>
            <a:r>
              <a:rPr lang="en-US" altLang="zh-CN" sz="1200"/>
              <a:t>+       .set_priority	= mptcp_sock_set_priority,</a:t>
            </a:r>
            <a:endParaRPr lang="en-US" altLang="zh-CN" sz="1200"/>
          </a:p>
          <a:p>
            <a:r>
              <a:rPr lang="en-US" altLang="zh-CN" sz="1200"/>
              <a:t>+       .set_tos	= mptcp_sock_set_tos,</a:t>
            </a:r>
            <a:endParaRPr lang="en-US" altLang="zh-CN" sz="1200"/>
          </a:p>
          <a:p>
            <a:r>
              <a:rPr lang="en-US" altLang="zh-CN" sz="1200"/>
              <a:t>+       .ops		= &amp;nvme_mptcp_ctrl_ops,</a:t>
            </a:r>
            <a:endParaRPr lang="en-US" altLang="zh-CN" sz="1200"/>
          </a:p>
          <a:p>
            <a:r>
              <a:rPr lang="en-US" altLang="zh-CN" sz="1200"/>
              <a:t>+};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7" name="文本框 6"/>
          <p:cNvSpPr txBox="1"/>
          <p:nvPr/>
        </p:nvSpPr>
        <p:spPr>
          <a:xfrm>
            <a:off x="939165" y="3429000"/>
            <a:ext cx="565404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 struct nvme_tcp_ctrl {</a:t>
            </a:r>
            <a:endParaRPr lang="en-US" altLang="zh-CN" sz="1200"/>
          </a:p>
          <a:p>
            <a:r>
              <a:rPr lang="en-US" altLang="zh-CN" sz="1200"/>
              <a:t>+       struct rcu_head         rcu;</a:t>
            </a:r>
            <a:endParaRPr lang="en-US" altLang="zh-CN" sz="1200"/>
          </a:p>
          <a:p>
            <a:r>
              <a:rPr lang="en-US" altLang="zh-CN" sz="1200"/>
              <a:t>         ... ...</a:t>
            </a:r>
            <a:endParaRPr lang="en-US" altLang="zh-CN" sz="1200"/>
          </a:p>
          <a:p>
            <a:r>
              <a:rPr lang="en-US" altLang="zh-CN" sz="1200"/>
              <a:t>         u32                     io_queues[HCTX_MAX_TYPES];</a:t>
            </a:r>
            <a:endParaRPr lang="en-US" altLang="zh-CN" sz="1200"/>
          </a:p>
          <a:p>
            <a:r>
              <a:rPr lang="en-US" altLang="zh-CN" sz="1200"/>
              <a:t>+       const struct nvme_tcp_proto *proto;</a:t>
            </a:r>
            <a:endParaRPr lang="en-US" altLang="zh-CN" sz="1200"/>
          </a:p>
          <a:p>
            <a:r>
              <a:rPr lang="en-US" altLang="zh-CN" sz="1200"/>
              <a:t> };</a:t>
            </a:r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939165" y="1295400"/>
            <a:ext cx="4324350" cy="193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200"/>
              <a:t>+struct nvme_tcp_proto {</a:t>
            </a:r>
            <a:endParaRPr lang="en-US" altLang="zh-CN" sz="1200"/>
          </a:p>
          <a:p>
            <a:r>
              <a:rPr lang="en-US" altLang="zh-CN" sz="1200"/>
              <a:t>+       int                     protocol;</a:t>
            </a:r>
            <a:endParaRPr lang="en-US" altLang="zh-CN" sz="1200"/>
          </a:p>
          <a:p>
            <a:r>
              <a:rPr lang="en-US" altLang="zh-CN" sz="1200"/>
              <a:t>+       int (*set_syncnt)(struct sock *sk, int val);</a:t>
            </a:r>
            <a:endParaRPr lang="en-US" altLang="zh-CN" sz="1200"/>
          </a:p>
          <a:p>
            <a:r>
              <a:rPr lang="en-US" altLang="zh-CN" sz="1200"/>
              <a:t>+       void (*set_nodelay)(struct sock *sk);</a:t>
            </a:r>
            <a:endParaRPr lang="en-US" altLang="zh-CN" sz="1200"/>
          </a:p>
          <a:p>
            <a:r>
              <a:rPr lang="en-US" altLang="zh-CN" sz="1200"/>
              <a:t>+       void (*no_linger)(struct sock *sk);</a:t>
            </a:r>
            <a:endParaRPr lang="en-US" altLang="zh-CN" sz="1200"/>
          </a:p>
          <a:p>
            <a:r>
              <a:rPr lang="en-US" altLang="zh-CN" sz="1200"/>
              <a:t>+       void (*set_priority)(struct sock *sk, u32 priority);</a:t>
            </a:r>
            <a:endParaRPr lang="en-US" altLang="zh-CN" sz="1200"/>
          </a:p>
          <a:p>
            <a:r>
              <a:rPr lang="en-US" altLang="zh-CN" sz="1200"/>
              <a:t>+       void (*set_tos)(struct sock *sk, int val);</a:t>
            </a:r>
            <a:endParaRPr lang="en-US" altLang="zh-CN" sz="1200"/>
          </a:p>
          <a:p>
            <a:r>
              <a:rPr lang="en-US" altLang="zh-CN" sz="1200"/>
              <a:t>+       const struct nvme_ctrl_ops *ops;</a:t>
            </a:r>
            <a:endParaRPr lang="en-US" altLang="zh-CN" sz="1200"/>
          </a:p>
          <a:p>
            <a:r>
              <a:rPr lang="en-US" altLang="zh-CN" sz="1200"/>
              <a:t>+};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9" name="文本框 8"/>
          <p:cNvSpPr txBox="1"/>
          <p:nvPr/>
        </p:nvSpPr>
        <p:spPr>
          <a:xfrm>
            <a:off x="641350" y="5598795"/>
            <a:ext cx="49974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        if (!strcmp(ctrl-&gt;ctrl.opts-&gt;transport, "tcp")) {</a:t>
            </a:r>
            <a:endParaRPr lang="en-US" altLang="zh-CN" sz="1200"/>
          </a:p>
          <a:p>
            <a:r>
              <a:rPr lang="en-US" altLang="zh-CN" sz="1200"/>
              <a:t>                rcu_assign_pointer(ctrl-&gt;proto, &amp;nvme_tcp_proto);</a:t>
            </a:r>
            <a:endParaRPr lang="en-US" altLang="zh-CN" sz="1200"/>
          </a:p>
          <a:p>
            <a:r>
              <a:rPr lang="en-US" altLang="zh-CN" sz="1200"/>
              <a:t>        } else if (!strcmp(ctrl-&gt;ctrl.opts-&gt;transport, "mptcp")) {</a:t>
            </a:r>
            <a:endParaRPr lang="en-US" altLang="zh-CN" sz="1200"/>
          </a:p>
          <a:p>
            <a:r>
              <a:rPr lang="en-US" altLang="zh-CN" sz="1200"/>
              <a:t>                rcu_assign_pointer(ctrl-&gt;proto, &amp;nvme_mptcp_proto);</a:t>
            </a:r>
            <a:endParaRPr lang="en-US" altLang="zh-CN" sz="1200"/>
          </a:p>
          <a:p>
            <a:r>
              <a:rPr lang="en-US" altLang="zh-CN" sz="1200"/>
              <a:t>        }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5791200" y="3480435"/>
            <a:ext cx="568261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/>
              <a:t>+static struct nvmf_transport_ops nvme_mptcp_transport = {</a:t>
            </a:r>
            <a:endParaRPr lang="en-US" altLang="zh-CN" sz="1200"/>
          </a:p>
          <a:p>
            <a:r>
              <a:rPr lang="en-US" altLang="zh-CN" sz="1200"/>
              <a:t>+       .name		= "mptcp",</a:t>
            </a:r>
            <a:endParaRPr lang="en-US" altLang="zh-CN" sz="1200"/>
          </a:p>
          <a:p>
            <a:r>
              <a:rPr lang="en-US" altLang="zh-CN" sz="1200"/>
              <a:t>+       .module	= THIS_MODULE,</a:t>
            </a:r>
            <a:endParaRPr lang="en-US" altLang="zh-CN" sz="1200"/>
          </a:p>
          <a:p>
            <a:r>
              <a:rPr lang="en-US" altLang="zh-CN" sz="1200"/>
              <a:t>+       ...                       </a:t>
            </a:r>
            <a:endParaRPr lang="en-US" altLang="zh-CN" sz="1200"/>
          </a:p>
          <a:p>
            <a:r>
              <a:rPr lang="en-US" altLang="zh-CN" sz="1200"/>
              <a:t>+       .create_ctrl	= nvme_tcp_create_ctrl,</a:t>
            </a:r>
            <a:endParaRPr lang="en-US" altLang="zh-CN" sz="1200"/>
          </a:p>
          <a:p>
            <a:r>
              <a:rPr lang="en-US" altLang="zh-CN" sz="1200"/>
              <a:t>+};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5" name="文本框 4"/>
          <p:cNvSpPr txBox="1"/>
          <p:nvPr/>
        </p:nvSpPr>
        <p:spPr>
          <a:xfrm>
            <a:off x="5486400" y="990600"/>
            <a:ext cx="9065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Define </a:t>
            </a:r>
            <a:r>
              <a:rPr lang="en-US" altLang="zh-CN" sz="1600" b="1">
                <a:solidFill>
                  <a:schemeClr val="tx1"/>
                </a:solidFill>
              </a:rPr>
              <a:t>nvme_tcp_proto / nvme_mptcp_proto</a:t>
            </a:r>
            <a:r>
              <a:rPr lang="en-US" altLang="zh-CN" sz="1600"/>
              <a:t> for TCP / MPTCP: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641350" y="314007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Add a pointer to this structure in </a:t>
            </a:r>
            <a:r>
              <a:rPr lang="en-US" altLang="zh-CN" sz="1600" b="1">
                <a:solidFill>
                  <a:schemeClr val="tx1"/>
                </a:solidFill>
              </a:rPr>
              <a:t>tcp_ctrl: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86400" y="3166745"/>
            <a:ext cx="82130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New</a:t>
            </a:r>
            <a:r>
              <a:rPr lang="en-US" altLang="zh-CN" sz="1600">
                <a:solidFill>
                  <a:srgbClr val="FF0000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transport ops</a:t>
            </a:r>
            <a:r>
              <a:rPr lang="en-US" altLang="zh-CN" sz="1600"/>
              <a:t> for MPTCP: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5867400" y="533400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ym typeface="+mn-ea"/>
              </a:rPr>
              <a:t>        ret = sock_create_kern(current-&gt;nsproxy-&gt;net_ns,</a:t>
            </a:r>
            <a:endParaRPr lang="en-US" altLang="zh-CN" sz="1200">
              <a:sym typeface="+mn-ea"/>
            </a:endParaRPr>
          </a:p>
          <a:p>
            <a:pPr marL="457200" lvl="1" indent="457200"/>
            <a:r>
              <a:rPr lang="en-US" altLang="zh-CN" sz="1200">
                <a:sym typeface="+mn-ea"/>
              </a:rPr>
              <a:t>ctrl-&gt;addr.ss_family, SOCK_STREAM,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+	proto-&gt;protocol, &amp;queue-&gt;sock);</a:t>
            </a:r>
            <a:endParaRPr lang="en-US" altLang="zh-CN" sz="1200">
              <a:sym typeface="+mn-ea"/>
            </a:endParaRPr>
          </a:p>
          <a:p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+       proto-&gt;set_syncnt(queue-&gt;sock-&gt;sk, 1);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+       proto-&gt;set_nodelay(queue-&gt;sock-&gt;sk);</a:t>
            </a:r>
            <a:endParaRPr lang="en-US" altLang="zh-CN" sz="12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1350" y="4800600"/>
            <a:ext cx="49206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Initialize the pointer to a different instance based on transport name (</a:t>
            </a:r>
            <a:r>
              <a:rPr lang="en-US" altLang="zh-CN" sz="1600" b="1">
                <a:solidFill>
                  <a:schemeClr val="tx1"/>
                </a:solidFill>
              </a:rPr>
              <a:t>tcp or mptcp</a:t>
            </a:r>
            <a:r>
              <a:rPr lang="en-US" altLang="zh-CN" sz="1600"/>
              <a:t>) in </a:t>
            </a:r>
            <a:r>
              <a:rPr lang="en-US" altLang="zh-CN" sz="1600">
                <a:sym typeface="+mn-ea"/>
              </a:rPr>
              <a:t>nvme_tcp_alloc_ctrl: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5562600" y="48006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1600"/>
              <a:t>Access the instance </a:t>
            </a:r>
            <a:r>
              <a:rPr lang="en-US" altLang="zh-CN" sz="1600" b="1">
                <a:solidFill>
                  <a:schemeClr val="tx1"/>
                </a:solidFill>
              </a:rPr>
              <a:t>through the pointer in tcp_ctrl</a:t>
            </a:r>
            <a:r>
              <a:rPr lang="en-US" altLang="zh-CN" sz="1600">
                <a:solidFill>
                  <a:schemeClr val="tx1"/>
                </a:solidFill>
              </a:rPr>
              <a:t>,</a:t>
            </a:r>
            <a:r>
              <a:rPr lang="en-US" altLang="zh-CN" sz="1600"/>
              <a:t> and use this instance afterwards:</a:t>
            </a:r>
            <a:endParaRPr lang="en-US" altLang="zh-CN" sz="160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Discussion 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1295400"/>
            <a:ext cx="601599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400" b="1" dirty="0" err="1"/>
              <a:t>mptcpize</a:t>
            </a:r>
            <a:r>
              <a:rPr lang="en-US" altLang="zh-CN" sz="2400" b="1" dirty="0"/>
              <a:t> / </a:t>
            </a:r>
            <a:r>
              <a:rPr lang="en-US" altLang="zh-CN" sz="2400" b="1" dirty="0" err="1"/>
              <a:t>mptcpify</a:t>
            </a:r>
            <a:r>
              <a:rPr lang="en-US" altLang="zh-CN" sz="2400" b="1" dirty="0"/>
              <a:t> tools do not work on </a:t>
            </a:r>
            <a:r>
              <a:rPr lang="en-US" altLang="zh-CN" sz="2400" b="1" dirty="0" err="1"/>
              <a:t>NVMe</a:t>
            </a:r>
            <a:r>
              <a:rPr lang="en-US" altLang="zh-CN" sz="2400" b="1" dirty="0"/>
              <a:t> TCP</a:t>
            </a:r>
            <a:endParaRPr lang="en-US" altLang="zh-CN" sz="2400" b="1" dirty="0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 dirty="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 dirty="0"/>
              <a:t>Keep the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code unchanged, can we just use MPTCP tools to convert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TCP to use MPTCP by force?</a:t>
            </a: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</a:rPr>
              <a:t>The answer is no</a:t>
            </a:r>
            <a:r>
              <a:rPr lang="en-US" altLang="zh-CN" sz="1600" dirty="0"/>
              <a:t>.</a:t>
            </a:r>
            <a:endParaRPr lang="en-US" altLang="zh-CN" sz="1600" dirty="0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4724400"/>
            <a:ext cx="601599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400" b="1">
                <a:sym typeface="+mn-ea"/>
              </a:rPr>
              <a:t>NVMe MPTCP vs. Block multiqueue</a:t>
            </a: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Can NVMe MPTCP work with Block multiqueue? </a:t>
            </a:r>
            <a:r>
              <a:rPr lang="en-US" altLang="zh-CN" sz="1600" b="1">
                <a:solidFill>
                  <a:schemeClr val="tx1"/>
                </a:solidFill>
              </a:rPr>
              <a:t>The answer is yes</a:t>
            </a:r>
            <a:r>
              <a:rPr lang="en-US" altLang="zh-CN" sz="1600"/>
              <a:t>. All queues - both admin queue and I/O queues - are MPTCP connections.</a:t>
            </a:r>
            <a:endParaRPr lang="en-US" altLang="zh-CN" sz="1600"/>
          </a:p>
        </p:txBody>
      </p:sp>
      <p:sp>
        <p:nvSpPr>
          <p:cNvPr id="4" name="文本框 3"/>
          <p:cNvSpPr txBox="1"/>
          <p:nvPr/>
        </p:nvSpPr>
        <p:spPr>
          <a:xfrm>
            <a:off x="6858000" y="1295400"/>
            <a:ext cx="503428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400" b="1"/>
              <a:t>How to select MPTCP? </a:t>
            </a:r>
            <a:endParaRPr lang="en-US" altLang="zh-CN" sz="2400" b="1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-&gt; A new transport type?</a:t>
            </a: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-&gt; A TCP variant?</a:t>
            </a: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A new transport type:</a:t>
            </a:r>
            <a:endParaRPr lang="en-US" altLang="zh-CN" sz="1600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 sz="1600"/>
              <a:t>+ straightforward</a:t>
            </a:r>
            <a:endParaRPr lang="en-US" altLang="zh-CN" sz="1600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 sz="1600"/>
              <a:t>- Update of the NVMe protocol -&gt; How?</a:t>
            </a: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A new TCP 'variant':</a:t>
            </a:r>
            <a:endParaRPr lang="en-US" altLang="zh-CN" sz="1600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 sz="1600"/>
              <a:t>+ smaller update of the protocol</a:t>
            </a:r>
            <a:endParaRPr lang="en-US" altLang="zh-CN" sz="1600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 sz="1600"/>
              <a:t>-&gt; How: using Transport Specific Address Subtype (TSAS) to represent a new Protocol Type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635000" y="3183255"/>
            <a:ext cx="604139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400" b="1"/>
              <a:t>NVMe MPTCP vs. NVMe multipath</a:t>
            </a:r>
            <a:endParaRPr lang="en-US" altLang="zh-CN" sz="2400" b="1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 sz="1600"/>
              <a:t>Can NVMe MPTCP work with NVMe multipath? Both names contain 'multipath'. </a:t>
            </a:r>
            <a:r>
              <a:rPr lang="en-US" altLang="zh-CN" sz="1600" b="1">
                <a:solidFill>
                  <a:schemeClr val="tx1"/>
                </a:solidFill>
              </a:rPr>
              <a:t>The answer is yes</a:t>
            </a:r>
            <a:r>
              <a:rPr lang="en-US" altLang="zh-CN" sz="1600">
                <a:solidFill>
                  <a:schemeClr val="tx1"/>
                </a:solidFill>
              </a:rPr>
              <a:t>.</a:t>
            </a:r>
            <a:r>
              <a:rPr lang="en-US" altLang="zh-CN" sz="1600"/>
              <a:t> (I/O policy)</a:t>
            </a:r>
            <a:endParaRPr lang="en-US" altLang="zh-CN" sz="1600"/>
          </a:p>
          <a:p>
            <a:pPr indent="0">
              <a:buFont typeface="Arial" panose="02080604020202020204" pitchFamily="34" charset="0"/>
              <a:buNone/>
            </a:pP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12/15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11200" y="1541145"/>
            <a:ext cx="10467975" cy="3569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GitHub:</a:t>
            </a:r>
            <a:endParaRPr lang="en-US" altLang="zh-CN" sz="2000" b="1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/>
              <a:t>@geliangtang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Email:</a:t>
            </a:r>
            <a:endParaRPr lang="en-US" altLang="zh-CN" sz="2000" b="1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/>
              <a:t>geliang@kernel.org</a:t>
            </a:r>
            <a:endParaRPr lang="en-US" altLang="zh-CN"/>
          </a:p>
          <a:p>
            <a:pPr indent="457200">
              <a:buFont typeface="Arial" panose="02080604020202020204" pitchFamily="34" charset="0"/>
              <a:buNone/>
            </a:pPr>
            <a:endParaRPr lang="en-US" altLang="zh-CN"/>
          </a:p>
          <a:p>
            <a:pPr indent="457200">
              <a:buFont typeface="Arial" panose="0208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MPTCP Community:</a:t>
            </a:r>
            <a:endParaRPr lang="en-US" altLang="zh-CN" sz="2000" b="1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/>
              <a:t>Website:           https://www.mptcp.dev/</a:t>
            </a:r>
            <a:endParaRPr lang="en-US" altLang="zh-CN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/>
              <a:t>Repositories:    https://github.com/multipath-tcp/</a:t>
            </a:r>
            <a:endParaRPr lang="en-US" altLang="zh-CN"/>
          </a:p>
          <a:p>
            <a:pPr indent="457200">
              <a:buFont typeface="Arial" panose="02080604020202020204" pitchFamily="34" charset="0"/>
              <a:buNone/>
            </a:pPr>
            <a:r>
              <a:rPr lang="en-US" altLang="zh-CN"/>
              <a:t>Mailing List:      mptcp@lists.linux.dev</a:t>
            </a:r>
            <a:endParaRPr lang="en-US" altLang="zh-CN"/>
          </a:p>
        </p:txBody>
      </p: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Contact information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13/15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References</a:t>
            </a:r>
            <a:endParaRPr lang="en-US" sz="1100">
              <a:ea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1200" y="1541145"/>
            <a:ext cx="11188700" cy="4431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NVMe over MPTCP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https://lore.kernel.org/all/cover.1775047736.git.tanggeliang@kylinos.cn/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mptcp: implement .read_sock and .splice_read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https://lore.kernel.org/all/20260130-net-next-mptcp-splice-v2-0-31332ba70d7f@kernel.org/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MPTCP KTLS support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https://lore.kernel.org/all/cover.1776469068.git.tanggeliang@kylinos.cn/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libnvme: add mptcp trtype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https://lore.kernel.org/all/99f6e63b5c9677f29a9bc8cdd87b2064b258435f.1764206766.git.tanggeliang@kylinos.cn/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fabrics: add mptcp support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https://github.com/linux-nvme/nvme-cli/commit/f468531d0592ad22b71760d883409363b1f8a9d6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sz="2000" b="1"/>
              <a:t>tlshd: add mptcp support</a:t>
            </a:r>
            <a:endParaRPr lang="en-US" altLang="zh-CN" sz="2000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https://github.com/oracle/ktls-utils/commit/8fd3c7071e195206c4119575f40546f7243cc4c1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 b="1"/>
              <a:t>[LSF/MM/BPF TOPIC] NVMe over MPTCP</a:t>
            </a:r>
            <a:endParaRPr lang="en-US" altLang="zh-CN" b="1"/>
          </a:p>
          <a:p>
            <a:pPr indent="0">
              <a:buFont typeface="Arial" panose="02080604020202020204" pitchFamily="34" charset="0"/>
              <a:buNone/>
            </a:pPr>
            <a:r>
              <a:rPr lang="en-US" altLang="zh-CN"/>
              <a:t>https://lore.kernel.org/linux-nvme/a9f115aa5719e1088702a3fdeee766a3166611b1.camel@kernel.org/</a:t>
            </a:r>
            <a:endParaRPr lang="en-US" altLang="zh-CN"/>
          </a:p>
        </p:txBody>
      </p:sp>
      <p:pic>
        <p:nvPicPr>
          <p:cNvPr id="6" name="图片 5" descr="mptcp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0" y="228600"/>
            <a:ext cx="755015" cy="755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14/15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2753995"/>
            <a:ext cx="10845800" cy="135001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1"/>
          <a:lstStyle/>
          <a:p>
            <a:pPr algn="ctr">
              <a:defRPr/>
            </a:pPr>
            <a:r>
              <a:rPr lang="en-US" sz="6000" b="1">
                <a:solidFill>
                  <a:srgbClr val="000000">
                    <a:alpha val="100000"/>
                  </a:srgbClr>
                </a:solidFill>
                <a:latin typeface="Arial" panose="02080604020202020204" pitchFamily="34" charset="0"/>
                <a:ea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Questions</a:t>
            </a:r>
            <a:endParaRPr lang="en-US" sz="6000" b="1">
              <a:solidFill>
                <a:srgbClr val="000000">
                  <a:alpha val="100000"/>
                </a:srgbClr>
              </a:solidFill>
              <a:latin typeface="Arial" panose="02080604020202020204" pitchFamily="34" charset="0"/>
              <a:ea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03105" y="6477000"/>
            <a:ext cx="2277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15/15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32a4b33-7ab3-4ab2-9957-a7d99a4d04d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10140</Words>
  <Application>WPS 演示</Application>
  <PresentationFormat>宽屏</PresentationFormat>
  <Paragraphs>384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Liberation Sans</vt:lpstr>
      <vt:lpstr>Arial</vt:lpstr>
      <vt:lpstr>Microsoft YaHei</vt:lpstr>
      <vt:lpstr>Droid Sans Fallback</vt:lpstr>
      <vt:lpstr>Calibri</vt:lpstr>
      <vt:lpstr>Microsoft YaHei</vt:lpstr>
      <vt:lpstr>Arial Unicode MS</vt:lpstr>
      <vt:lpstr>Adwaita Mono</vt:lpstr>
      <vt:lpstr>汉仪叶叶相思体简</vt:lpstr>
      <vt:lpstr>Noto Serif CJK SC</vt:lpstr>
      <vt:lpstr>SimSun</vt:lpstr>
      <vt:lpstr>732a4b33-7ab3-4ab2-9957-a7d99a4d04d2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tgl</cp:lastModifiedBy>
  <cp:revision>716</cp:revision>
  <dcterms:created xsi:type="dcterms:W3CDTF">2026-04-29T06:38:30Z</dcterms:created>
  <dcterms:modified xsi:type="dcterms:W3CDTF">2026-04-29T06:38:30Z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F362B313B865F99AD4BEEE697B920A45_43</vt:lpwstr>
  </property>
  <property fmtid="{D5CDD505-2E9C-101B-9397-08002B2CF9AE}" pid="3" name="KSOProductBuildVer">
    <vt:lpwstr>2052-12.1.2.25882</vt:lpwstr>
  </property>
</Properties>
</file>